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.png" ContentType="image/png"/>
  <Override PartName="/ppt/media/image2.png" ContentType="image/png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_rels/slide2.xml.rels" ContentType="application/vnd.openxmlformats-package.relationships+xml"/>
  <Override PartName="/ppt/slides/_rels/slide17.xml.rels" ContentType="application/vnd.openxmlformats-package.relationships+xml"/>
  <Override PartName="/ppt/slides/_rels/slide3.xml.rels" ContentType="application/vnd.openxmlformats-package.relationships+xml"/>
  <Override PartName="/ppt/slides/_rels/slide18.xml.rels" ContentType="application/vnd.openxmlformats-package.relationships+xml"/>
  <Override PartName="/ppt/slides/_rels/slide4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8.xml.rels" ContentType="application/vnd.openxmlformats-package.relationships+xml"/>
  <Override PartName="/ppt/notesSlides/_rels/notesSlide4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3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2.xml.rels" ContentType="application/vnd.openxmlformats-package.relationships+xml"/>
  <Override PartName="/ppt/notesSlides/notesSlide1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mover o slide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notas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CCB9D951-06EB-4C8B-B853-D1B995FF1C80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0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6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D929F12-EE9B-4F0E-A292-A4652617AC03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0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9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5AE5ABB-6655-4D0A-ACEC-5ABC6307BAEC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1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2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C25F5C1-7E9E-47D9-8BA9-6453D207358D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1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5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7C949D4-FA98-4A43-8699-0D91505DC3AD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1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8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C7181B1-E1E0-488B-9A4F-7AD783B68472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2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1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CB0091F-0346-48E7-A482-4B3903835C4B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2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4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5DFD273-D8BE-48FF-90CE-C4DB1CFE39B5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2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7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309B87E-BF97-4237-911A-E2A6E250B5F3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2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0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64B8D69-BF9A-4618-8BFE-DAD61C27A9A5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3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3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C56DEDB-E406-49F8-A401-E42644795729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3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6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7925ACD-D9AF-4AFF-B5EC-512A1DAF5510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3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9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9A25E34-BD92-4AAD-BD75-239BEB26DB00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4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2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9DF400B-5C98-45D8-8AEA-DC813F8610A4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4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5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5467BC3-538A-47EF-8CAE-AE40195D3C2C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4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8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8603DC4-DB28-49D8-AD19-20E0F0BCE448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5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1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FF0452C-4B7D-4784-B35B-32DE0806279E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5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4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3DDEF2A-10F2-40C9-96D1-520D662B01B5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5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7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A48FC3B-085D-4B02-8C4D-9521E8C11634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5943600" y="-1097280"/>
            <a:ext cx="5028480" cy="5028480"/>
          </a:xfrm>
          <a:prstGeom prst="ellipse">
            <a:avLst/>
          </a:prstGeom>
          <a:solidFill>
            <a:srgbClr val="1b3a6b">
              <a:alpha val="40000"/>
            </a:srgbClr>
          </a:solidFill>
          <a:ln w="12700">
            <a:solidFill>
              <a:srgbClr val="1b3a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" name="Shape 1"/>
          <p:cNvSpPr/>
          <p:nvPr/>
        </p:nvSpPr>
        <p:spPr>
          <a:xfrm>
            <a:off x="6858000" y="-457200"/>
            <a:ext cx="3199680" cy="3199680"/>
          </a:xfrm>
          <a:prstGeom prst="ellipse">
            <a:avLst/>
          </a:prstGeom>
          <a:solidFill>
            <a:srgbClr val="e87722">
              <a:alpha val="20000"/>
            </a:srgbClr>
          </a:solidFill>
          <a:ln w="12700">
            <a:solidFill>
              <a:srgbClr val="e877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" name="Shape 2"/>
          <p:cNvSpPr/>
          <p:nvPr/>
        </p:nvSpPr>
        <p:spPr>
          <a:xfrm>
            <a:off x="0" y="1097280"/>
            <a:ext cx="54000" cy="292536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3"/>
          <p:cNvSpPr/>
          <p:nvPr/>
        </p:nvSpPr>
        <p:spPr>
          <a:xfrm>
            <a:off x="320040" y="274320"/>
            <a:ext cx="82288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4"/>
          <p:cNvSpPr/>
          <p:nvPr/>
        </p:nvSpPr>
        <p:spPr>
          <a:xfrm>
            <a:off x="320040" y="822960"/>
            <a:ext cx="6400080" cy="164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800" strike="noStrike" u="non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Ferramentas de</a:t>
            </a:r>
            <a:endParaRPr b="0" lang="pt-BR" sz="3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800" strike="noStrike" u="non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Desenvolvimento Moderno</a:t>
            </a:r>
            <a:endParaRPr b="0" lang="pt-BR" sz="3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5"/>
          <p:cNvSpPr/>
          <p:nvPr/>
        </p:nvSpPr>
        <p:spPr>
          <a:xfrm>
            <a:off x="320040" y="2606040"/>
            <a:ext cx="64000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Disciplina de Desenvolvimento Frontend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Shape 6"/>
          <p:cNvSpPr/>
          <p:nvPr/>
        </p:nvSpPr>
        <p:spPr>
          <a:xfrm>
            <a:off x="320040" y="3291840"/>
            <a:ext cx="2102400" cy="346680"/>
          </a:xfrm>
          <a:prstGeom prst="rect">
            <a:avLst/>
          </a:prstGeom>
          <a:solidFill>
            <a:srgbClr val="162b50"/>
          </a:solidFill>
          <a:ln w="12700">
            <a:solidFill>
              <a:srgbClr val="2a4a7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7"/>
          <p:cNvSpPr/>
          <p:nvPr/>
        </p:nvSpPr>
        <p:spPr>
          <a:xfrm>
            <a:off x="320040" y="3291840"/>
            <a:ext cx="210240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Node.js &amp; npm</a:t>
            </a:r>
            <a:endParaRPr b="0" lang="pt-BR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Shape 8"/>
          <p:cNvSpPr/>
          <p:nvPr/>
        </p:nvSpPr>
        <p:spPr>
          <a:xfrm>
            <a:off x="2651760" y="3291840"/>
            <a:ext cx="2102400" cy="346680"/>
          </a:xfrm>
          <a:prstGeom prst="rect">
            <a:avLst/>
          </a:prstGeom>
          <a:solidFill>
            <a:srgbClr val="162b50"/>
          </a:solidFill>
          <a:ln w="12700">
            <a:solidFill>
              <a:srgbClr val="2a4a7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9"/>
          <p:cNvSpPr/>
          <p:nvPr/>
        </p:nvSpPr>
        <p:spPr>
          <a:xfrm>
            <a:off x="2651760" y="3291840"/>
            <a:ext cx="210240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Terminal</a:t>
            </a:r>
            <a:endParaRPr b="0" lang="pt-BR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Shape 10"/>
          <p:cNvSpPr/>
          <p:nvPr/>
        </p:nvSpPr>
        <p:spPr>
          <a:xfrm>
            <a:off x="4983480" y="3291840"/>
            <a:ext cx="2102400" cy="346680"/>
          </a:xfrm>
          <a:prstGeom prst="rect">
            <a:avLst/>
          </a:prstGeom>
          <a:solidFill>
            <a:srgbClr val="162b50"/>
          </a:solidFill>
          <a:ln w="12700">
            <a:solidFill>
              <a:srgbClr val="2a4a7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11"/>
          <p:cNvSpPr/>
          <p:nvPr/>
        </p:nvSpPr>
        <p:spPr>
          <a:xfrm>
            <a:off x="4983480" y="3291840"/>
            <a:ext cx="210240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Git &amp; GitHub</a:t>
            </a:r>
            <a:endParaRPr b="0" lang="pt-BR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Shape 12"/>
          <p:cNvSpPr/>
          <p:nvPr/>
        </p:nvSpPr>
        <p:spPr>
          <a:xfrm>
            <a:off x="320040" y="3794760"/>
            <a:ext cx="2102400" cy="346680"/>
          </a:xfrm>
          <a:prstGeom prst="rect">
            <a:avLst/>
          </a:prstGeom>
          <a:solidFill>
            <a:srgbClr val="162b50"/>
          </a:solidFill>
          <a:ln w="12700">
            <a:solidFill>
              <a:srgbClr val="2a4a7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13"/>
          <p:cNvSpPr/>
          <p:nvPr/>
        </p:nvSpPr>
        <p:spPr>
          <a:xfrm>
            <a:off x="320040" y="3794760"/>
            <a:ext cx="210240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VS Code</a:t>
            </a:r>
            <a:endParaRPr b="0" lang="pt-BR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Shape 14"/>
          <p:cNvSpPr/>
          <p:nvPr/>
        </p:nvSpPr>
        <p:spPr>
          <a:xfrm>
            <a:off x="2651760" y="3794760"/>
            <a:ext cx="2102400" cy="346680"/>
          </a:xfrm>
          <a:prstGeom prst="rect">
            <a:avLst/>
          </a:prstGeom>
          <a:solidFill>
            <a:srgbClr val="162b50"/>
          </a:solidFill>
          <a:ln w="12700">
            <a:solidFill>
              <a:srgbClr val="2a4a7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15"/>
          <p:cNvSpPr/>
          <p:nvPr/>
        </p:nvSpPr>
        <p:spPr>
          <a:xfrm>
            <a:off x="2651760" y="3794760"/>
            <a:ext cx="210240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ESLint &amp; Prettier</a:t>
            </a:r>
            <a:endParaRPr b="0" lang="pt-BR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Shape 16"/>
          <p:cNvSpPr/>
          <p:nvPr/>
        </p:nvSpPr>
        <p:spPr>
          <a:xfrm>
            <a:off x="4983480" y="3794760"/>
            <a:ext cx="2102400" cy="346680"/>
          </a:xfrm>
          <a:prstGeom prst="rect">
            <a:avLst/>
          </a:prstGeom>
          <a:solidFill>
            <a:srgbClr val="162b50"/>
          </a:solidFill>
          <a:ln w="12700">
            <a:solidFill>
              <a:srgbClr val="2a4a7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17"/>
          <p:cNvSpPr/>
          <p:nvPr/>
        </p:nvSpPr>
        <p:spPr>
          <a:xfrm>
            <a:off x="4983480" y="3794760"/>
            <a:ext cx="210240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Vite.js</a:t>
            </a:r>
            <a:endParaRPr b="0" lang="pt-BR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18"/>
          <p:cNvSpPr/>
          <p:nvPr/>
        </p:nvSpPr>
        <p:spPr>
          <a:xfrm>
            <a:off x="320040" y="4663440"/>
            <a:ext cx="82288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hape 0"/>
          <p:cNvSpPr/>
          <p:nvPr/>
        </p:nvSpPr>
        <p:spPr>
          <a:xfrm>
            <a:off x="0" y="0"/>
            <a:ext cx="54000" cy="514296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" name="Shape 1"/>
          <p:cNvSpPr/>
          <p:nvPr/>
        </p:nvSpPr>
        <p:spPr>
          <a:xfrm>
            <a:off x="274320" y="164520"/>
            <a:ext cx="794880" cy="25524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2"/>
          <p:cNvSpPr/>
          <p:nvPr/>
        </p:nvSpPr>
        <p:spPr>
          <a:xfrm>
            <a:off x="274320" y="173880"/>
            <a:ext cx="7948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AGENDA</a:t>
            </a:r>
            <a:endParaRPr b="0" lang="pt-BR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3"/>
          <p:cNvSpPr/>
          <p:nvPr/>
        </p:nvSpPr>
        <p:spPr>
          <a:xfrm>
            <a:off x="320040" y="502920"/>
            <a:ext cx="82288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O que veremos hoje</a:t>
            </a:r>
            <a:endParaRPr b="0" lang="pt-BR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" name="Shape 4"/>
          <p:cNvSpPr/>
          <p:nvPr/>
        </p:nvSpPr>
        <p:spPr>
          <a:xfrm>
            <a:off x="228600" y="1234440"/>
            <a:ext cx="4205520" cy="1023480"/>
          </a:xfrm>
          <a:prstGeom prst="rect">
            <a:avLst/>
          </a:prstGeom>
          <a:solidFill>
            <a:srgbClr val="162b50"/>
          </a:solidFill>
          <a:ln w="12700">
            <a:solidFill>
              <a:srgbClr val="2a4a7f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" name="Shape 5"/>
          <p:cNvSpPr/>
          <p:nvPr/>
        </p:nvSpPr>
        <p:spPr>
          <a:xfrm>
            <a:off x="228600" y="1234440"/>
            <a:ext cx="45000" cy="10234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6"/>
          <p:cNvSpPr/>
          <p:nvPr/>
        </p:nvSpPr>
        <p:spPr>
          <a:xfrm>
            <a:off x="338400" y="1325880"/>
            <a:ext cx="4564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cadcfc"/>
                </a:solidFill>
                <a:effectLst/>
                <a:uFillTx/>
                <a:latin typeface="Trebuchet MS"/>
                <a:ea typeface="Trebuchet MS"/>
              </a:rPr>
              <a:t>01</a:t>
            </a:r>
            <a:endParaRPr b="0" lang="pt-BR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7"/>
          <p:cNvSpPr/>
          <p:nvPr/>
        </p:nvSpPr>
        <p:spPr>
          <a:xfrm>
            <a:off x="822960" y="1325880"/>
            <a:ext cx="31996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Node.js &amp; npm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8"/>
          <p:cNvSpPr/>
          <p:nvPr/>
        </p:nvSpPr>
        <p:spPr>
          <a:xfrm>
            <a:off x="822960" y="1673280"/>
            <a:ext cx="3199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7b9fc4"/>
                </a:solidFill>
                <a:effectLst/>
                <a:uFillTx/>
                <a:latin typeface="Calibri"/>
                <a:ea typeface="Calibri"/>
              </a:rPr>
              <a:t>Gerenciamento de pacotes e scripts</a:t>
            </a:r>
            <a:endParaRPr b="0" lang="pt-BR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" name="Shape 10"/>
          <p:cNvSpPr/>
          <p:nvPr/>
        </p:nvSpPr>
        <p:spPr>
          <a:xfrm>
            <a:off x="4663440" y="1234440"/>
            <a:ext cx="4205520" cy="1023480"/>
          </a:xfrm>
          <a:prstGeom prst="rect">
            <a:avLst/>
          </a:prstGeom>
          <a:solidFill>
            <a:srgbClr val="162b50"/>
          </a:solidFill>
          <a:ln w="12700">
            <a:solidFill>
              <a:srgbClr val="2a4a7f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" name="Shape 11"/>
          <p:cNvSpPr/>
          <p:nvPr/>
        </p:nvSpPr>
        <p:spPr>
          <a:xfrm>
            <a:off x="4663440" y="1234440"/>
            <a:ext cx="45000" cy="10234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12"/>
          <p:cNvSpPr/>
          <p:nvPr/>
        </p:nvSpPr>
        <p:spPr>
          <a:xfrm>
            <a:off x="4773240" y="1325880"/>
            <a:ext cx="4564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cadcfc"/>
                </a:solidFill>
                <a:effectLst/>
                <a:uFillTx/>
                <a:latin typeface="Trebuchet MS"/>
                <a:ea typeface="Trebuchet MS"/>
              </a:rPr>
              <a:t>02</a:t>
            </a:r>
            <a:endParaRPr b="0" lang="pt-BR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13"/>
          <p:cNvSpPr/>
          <p:nvPr/>
        </p:nvSpPr>
        <p:spPr>
          <a:xfrm>
            <a:off x="5257800" y="1325880"/>
            <a:ext cx="31996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Terminal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14"/>
          <p:cNvSpPr/>
          <p:nvPr/>
        </p:nvSpPr>
        <p:spPr>
          <a:xfrm>
            <a:off x="5257800" y="1673280"/>
            <a:ext cx="3199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7b9fc4"/>
                </a:solidFill>
                <a:effectLst/>
                <a:uFillTx/>
                <a:latin typeface="Calibri"/>
                <a:ea typeface="Calibri"/>
              </a:rPr>
              <a:t>Comandos essenciais no desenvolvimento</a:t>
            </a:r>
            <a:endParaRPr b="0" lang="pt-BR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" name="Shape 16"/>
          <p:cNvSpPr/>
          <p:nvPr/>
        </p:nvSpPr>
        <p:spPr>
          <a:xfrm>
            <a:off x="228600" y="2423160"/>
            <a:ext cx="4205520" cy="1023480"/>
          </a:xfrm>
          <a:prstGeom prst="rect">
            <a:avLst/>
          </a:prstGeom>
          <a:solidFill>
            <a:srgbClr val="162b50"/>
          </a:solidFill>
          <a:ln w="12700">
            <a:solidFill>
              <a:srgbClr val="2a4a7f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" name="Shape 17"/>
          <p:cNvSpPr/>
          <p:nvPr/>
        </p:nvSpPr>
        <p:spPr>
          <a:xfrm>
            <a:off x="228600" y="2423160"/>
            <a:ext cx="45000" cy="10234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18"/>
          <p:cNvSpPr/>
          <p:nvPr/>
        </p:nvSpPr>
        <p:spPr>
          <a:xfrm>
            <a:off x="338400" y="2514600"/>
            <a:ext cx="4564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cadcfc"/>
                </a:solidFill>
                <a:effectLst/>
                <a:uFillTx/>
                <a:latin typeface="Trebuchet MS"/>
                <a:ea typeface="Trebuchet MS"/>
              </a:rPr>
              <a:t>03</a:t>
            </a:r>
            <a:endParaRPr b="0" lang="pt-BR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19"/>
          <p:cNvSpPr/>
          <p:nvPr/>
        </p:nvSpPr>
        <p:spPr>
          <a:xfrm>
            <a:off x="822960" y="2514600"/>
            <a:ext cx="31996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Git &amp; GitHub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20"/>
          <p:cNvSpPr/>
          <p:nvPr/>
        </p:nvSpPr>
        <p:spPr>
          <a:xfrm>
            <a:off x="822960" y="2862000"/>
            <a:ext cx="3199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7b9fc4"/>
                </a:solidFill>
                <a:effectLst/>
                <a:uFillTx/>
                <a:latin typeface="Calibri"/>
                <a:ea typeface="Calibri"/>
              </a:rPr>
              <a:t>Controle de versão e fluxo em equipe</a:t>
            </a:r>
            <a:endParaRPr b="0" lang="pt-BR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" name="Shape 22"/>
          <p:cNvSpPr/>
          <p:nvPr/>
        </p:nvSpPr>
        <p:spPr>
          <a:xfrm>
            <a:off x="4663440" y="2423160"/>
            <a:ext cx="4205520" cy="1023480"/>
          </a:xfrm>
          <a:prstGeom prst="rect">
            <a:avLst/>
          </a:prstGeom>
          <a:solidFill>
            <a:srgbClr val="162b50"/>
          </a:solidFill>
          <a:ln w="12700">
            <a:solidFill>
              <a:srgbClr val="2a4a7f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" name="Shape 23"/>
          <p:cNvSpPr/>
          <p:nvPr/>
        </p:nvSpPr>
        <p:spPr>
          <a:xfrm>
            <a:off x="4663440" y="2423160"/>
            <a:ext cx="45000" cy="10234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24"/>
          <p:cNvSpPr/>
          <p:nvPr/>
        </p:nvSpPr>
        <p:spPr>
          <a:xfrm>
            <a:off x="4773240" y="2514600"/>
            <a:ext cx="4564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cadcfc"/>
                </a:solidFill>
                <a:effectLst/>
                <a:uFillTx/>
                <a:latin typeface="Trebuchet MS"/>
                <a:ea typeface="Trebuchet MS"/>
              </a:rPr>
              <a:t>04</a:t>
            </a:r>
            <a:endParaRPr b="0" lang="pt-BR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25"/>
          <p:cNvSpPr/>
          <p:nvPr/>
        </p:nvSpPr>
        <p:spPr>
          <a:xfrm>
            <a:off x="5257800" y="2514600"/>
            <a:ext cx="31996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VS Code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26"/>
          <p:cNvSpPr/>
          <p:nvPr/>
        </p:nvSpPr>
        <p:spPr>
          <a:xfrm>
            <a:off x="5257800" y="2862000"/>
            <a:ext cx="3199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7b9fc4"/>
                </a:solidFill>
                <a:effectLst/>
                <a:uFillTx/>
                <a:latin typeface="Calibri"/>
                <a:ea typeface="Calibri"/>
              </a:rPr>
              <a:t>Extensões, atalhos e snippets</a:t>
            </a:r>
            <a:endParaRPr b="0" lang="pt-BR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" name="Shape 28"/>
          <p:cNvSpPr/>
          <p:nvPr/>
        </p:nvSpPr>
        <p:spPr>
          <a:xfrm>
            <a:off x="228600" y="3611880"/>
            <a:ext cx="4205520" cy="1023480"/>
          </a:xfrm>
          <a:prstGeom prst="rect">
            <a:avLst/>
          </a:prstGeom>
          <a:solidFill>
            <a:srgbClr val="162b50"/>
          </a:solidFill>
          <a:ln w="12700">
            <a:solidFill>
              <a:srgbClr val="2a4a7f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" name="Shape 29"/>
          <p:cNvSpPr/>
          <p:nvPr/>
        </p:nvSpPr>
        <p:spPr>
          <a:xfrm>
            <a:off x="228600" y="3611880"/>
            <a:ext cx="45000" cy="10234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30"/>
          <p:cNvSpPr/>
          <p:nvPr/>
        </p:nvSpPr>
        <p:spPr>
          <a:xfrm>
            <a:off x="338400" y="3703320"/>
            <a:ext cx="4564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cadcfc"/>
                </a:solidFill>
                <a:effectLst/>
                <a:uFillTx/>
                <a:latin typeface="Trebuchet MS"/>
                <a:ea typeface="Trebuchet MS"/>
              </a:rPr>
              <a:t>05</a:t>
            </a:r>
            <a:endParaRPr b="0" lang="pt-BR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31"/>
          <p:cNvSpPr/>
          <p:nvPr/>
        </p:nvSpPr>
        <p:spPr>
          <a:xfrm>
            <a:off x="822960" y="3703320"/>
            <a:ext cx="31996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ESLint &amp; Prettier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32"/>
          <p:cNvSpPr/>
          <p:nvPr/>
        </p:nvSpPr>
        <p:spPr>
          <a:xfrm>
            <a:off x="822960" y="4050720"/>
            <a:ext cx="3199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7b9fc4"/>
                </a:solidFill>
                <a:effectLst/>
                <a:uFillTx/>
                <a:latin typeface="Calibri"/>
                <a:ea typeface="Calibri"/>
              </a:rPr>
              <a:t>Qualidade e padrão de código</a:t>
            </a:r>
            <a:endParaRPr b="0" lang="pt-BR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" name="Shape 34"/>
          <p:cNvSpPr/>
          <p:nvPr/>
        </p:nvSpPr>
        <p:spPr>
          <a:xfrm>
            <a:off x="4663440" y="3611880"/>
            <a:ext cx="4205520" cy="1023480"/>
          </a:xfrm>
          <a:prstGeom prst="rect">
            <a:avLst/>
          </a:prstGeom>
          <a:solidFill>
            <a:srgbClr val="162b50"/>
          </a:solidFill>
          <a:ln w="12700">
            <a:solidFill>
              <a:srgbClr val="2a4a7f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" name="Shape 35"/>
          <p:cNvSpPr/>
          <p:nvPr/>
        </p:nvSpPr>
        <p:spPr>
          <a:xfrm>
            <a:off x="4663440" y="3611880"/>
            <a:ext cx="45000" cy="102348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36"/>
          <p:cNvSpPr/>
          <p:nvPr/>
        </p:nvSpPr>
        <p:spPr>
          <a:xfrm>
            <a:off x="4773240" y="3703320"/>
            <a:ext cx="4564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e87722"/>
                </a:solidFill>
                <a:effectLst/>
                <a:uFillTx/>
                <a:latin typeface="Trebuchet MS"/>
                <a:ea typeface="Trebuchet MS"/>
              </a:rPr>
              <a:t>06</a:t>
            </a:r>
            <a:endParaRPr b="0" lang="pt-BR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37"/>
          <p:cNvSpPr/>
          <p:nvPr/>
        </p:nvSpPr>
        <p:spPr>
          <a:xfrm>
            <a:off x="5257800" y="3703320"/>
            <a:ext cx="31996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Vite.js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38"/>
          <p:cNvSpPr/>
          <p:nvPr/>
        </p:nvSpPr>
        <p:spPr>
          <a:xfrm>
            <a:off x="5257800" y="4050720"/>
            <a:ext cx="3199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7b9fc4"/>
                </a:solidFill>
                <a:effectLst/>
                <a:uFillTx/>
                <a:latin typeface="Calibri"/>
                <a:ea typeface="Calibri"/>
              </a:rPr>
              <a:t>Ferramenta de build moderna</a:t>
            </a:r>
            <a:endParaRPr b="0" lang="pt-BR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40"/>
          <p:cNvSpPr/>
          <p:nvPr/>
        </p:nvSpPr>
        <p:spPr>
          <a:xfrm>
            <a:off x="8412480" y="4754880"/>
            <a:ext cx="6393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7b9fc4"/>
                </a:solidFill>
                <a:effectLst/>
                <a:uFillTx/>
                <a:latin typeface="Calibri"/>
                <a:ea typeface="Calibri"/>
              </a:rPr>
              <a:t>2 / 18</a:t>
            </a:r>
            <a:endParaRPr b="0" lang="pt-BR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0"/>
          <p:cNvSpPr/>
          <p:nvPr/>
        </p:nvSpPr>
        <p:spPr>
          <a:xfrm>
            <a:off x="274320" y="164520"/>
            <a:ext cx="1402920" cy="25524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1"/>
          <p:cNvSpPr/>
          <p:nvPr/>
        </p:nvSpPr>
        <p:spPr>
          <a:xfrm>
            <a:off x="274320" y="173880"/>
            <a:ext cx="14029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NODE.JS &amp; NPM</a:t>
            </a:r>
            <a:endParaRPr b="0" lang="pt-B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2"/>
          <p:cNvSpPr/>
          <p:nvPr/>
        </p:nvSpPr>
        <p:spPr>
          <a:xfrm>
            <a:off x="360000" y="1960560"/>
            <a:ext cx="5028480" cy="12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0f1f3d"/>
                </a:solidFill>
                <a:effectLst/>
                <a:uFillTx/>
                <a:latin typeface="Trebuchet MS"/>
                <a:ea typeface="Trebuchet MS"/>
              </a:rPr>
              <a:t>O que é o Node.js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0f1f3d"/>
                </a:solidFill>
                <a:effectLst/>
                <a:uFillTx/>
                <a:latin typeface="Trebuchet MS"/>
                <a:ea typeface="Trebuchet MS"/>
              </a:rPr>
              <a:t>no contexto front-end?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5" name="Image 0" descr="preencoded.png"/>
          <p:cNvPicPr/>
          <p:nvPr/>
        </p:nvPicPr>
        <p:blipFill>
          <a:blip r:embed="rId1"/>
          <a:stretch/>
        </p:blipFill>
        <p:spPr>
          <a:xfrm>
            <a:off x="7132320" y="365760"/>
            <a:ext cx="1645200" cy="1645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6" name="Shape 6"/>
          <p:cNvSpPr/>
          <p:nvPr/>
        </p:nvSpPr>
        <p:spPr>
          <a:xfrm>
            <a:off x="5760720" y="594360"/>
            <a:ext cx="3199680" cy="1188000"/>
          </a:xfrm>
          <a:prstGeom prst="rect">
            <a:avLst/>
          </a:prstGeom>
          <a:solidFill>
            <a:srgbClr val="162b50"/>
          </a:solidFill>
          <a:ln w="12700">
            <a:solidFill>
              <a:srgbClr val="2a4a7f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Shape 7"/>
          <p:cNvSpPr/>
          <p:nvPr/>
        </p:nvSpPr>
        <p:spPr>
          <a:xfrm>
            <a:off x="5897880" y="685800"/>
            <a:ext cx="319320" cy="319320"/>
          </a:xfrm>
          <a:prstGeom prst="ellipse">
            <a:avLst/>
          </a:prstGeom>
          <a:solidFill>
            <a:srgbClr val="e87722"/>
          </a:solidFill>
          <a:ln w="12700">
            <a:solidFill>
              <a:srgbClr val="e877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8"/>
          <p:cNvSpPr/>
          <p:nvPr/>
        </p:nvSpPr>
        <p:spPr>
          <a:xfrm>
            <a:off x="5897880" y="685800"/>
            <a:ext cx="3193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9"/>
          <p:cNvSpPr/>
          <p:nvPr/>
        </p:nvSpPr>
        <p:spPr>
          <a:xfrm>
            <a:off x="6291000" y="667440"/>
            <a:ext cx="25596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Runtime JS fora do browser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10"/>
          <p:cNvSpPr/>
          <p:nvPr/>
        </p:nvSpPr>
        <p:spPr>
          <a:xfrm>
            <a:off x="6291000" y="1005840"/>
            <a:ext cx="25596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7b9fc4"/>
                </a:solidFill>
                <a:effectLst/>
                <a:uFillTx/>
                <a:latin typeface="Calibri"/>
                <a:ea typeface="Calibri"/>
              </a:rPr>
              <a:t>Executa JavaScript no servidor/terminal</a:t>
            </a:r>
            <a:endParaRPr b="0" lang="pt-B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Shape 11"/>
          <p:cNvSpPr/>
          <p:nvPr/>
        </p:nvSpPr>
        <p:spPr>
          <a:xfrm>
            <a:off x="5760720" y="2011680"/>
            <a:ext cx="3199680" cy="1188000"/>
          </a:xfrm>
          <a:prstGeom prst="rect">
            <a:avLst/>
          </a:prstGeom>
          <a:solidFill>
            <a:srgbClr val="162b50"/>
          </a:solidFill>
          <a:ln w="12700">
            <a:solidFill>
              <a:srgbClr val="2a4a7f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Shape 12"/>
          <p:cNvSpPr/>
          <p:nvPr/>
        </p:nvSpPr>
        <p:spPr>
          <a:xfrm>
            <a:off x="5897880" y="2103120"/>
            <a:ext cx="319320" cy="319320"/>
          </a:xfrm>
          <a:prstGeom prst="ellipse">
            <a:avLst/>
          </a:prstGeom>
          <a:solidFill>
            <a:srgbClr val="e87722"/>
          </a:solidFill>
          <a:ln w="12700">
            <a:solidFill>
              <a:srgbClr val="e877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13"/>
          <p:cNvSpPr/>
          <p:nvPr/>
        </p:nvSpPr>
        <p:spPr>
          <a:xfrm>
            <a:off x="5897880" y="2103120"/>
            <a:ext cx="3193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14"/>
          <p:cNvSpPr/>
          <p:nvPr/>
        </p:nvSpPr>
        <p:spPr>
          <a:xfrm>
            <a:off x="6291000" y="2084760"/>
            <a:ext cx="25596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Ecossistema de ferramentas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15"/>
          <p:cNvSpPr/>
          <p:nvPr/>
        </p:nvSpPr>
        <p:spPr>
          <a:xfrm>
            <a:off x="6291000" y="2423160"/>
            <a:ext cx="25596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7b9fc4"/>
                </a:solidFill>
                <a:effectLst/>
                <a:uFillTx/>
                <a:latin typeface="Calibri"/>
                <a:ea typeface="Calibri"/>
              </a:rPr>
              <a:t>Bundlers, linters, transpiladores, servidores dev</a:t>
            </a:r>
            <a:endParaRPr b="0" lang="pt-B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Shape 16"/>
          <p:cNvSpPr/>
          <p:nvPr/>
        </p:nvSpPr>
        <p:spPr>
          <a:xfrm>
            <a:off x="5760720" y="3429000"/>
            <a:ext cx="3199680" cy="1188000"/>
          </a:xfrm>
          <a:prstGeom prst="rect">
            <a:avLst/>
          </a:prstGeom>
          <a:solidFill>
            <a:srgbClr val="162b50"/>
          </a:solidFill>
          <a:ln w="12700">
            <a:solidFill>
              <a:srgbClr val="2a4a7f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Shape 17"/>
          <p:cNvSpPr/>
          <p:nvPr/>
        </p:nvSpPr>
        <p:spPr>
          <a:xfrm>
            <a:off x="5897880" y="3520440"/>
            <a:ext cx="319320" cy="319320"/>
          </a:xfrm>
          <a:prstGeom prst="ellipse">
            <a:avLst/>
          </a:prstGeom>
          <a:solidFill>
            <a:srgbClr val="e87722"/>
          </a:solidFill>
          <a:ln w="12700">
            <a:solidFill>
              <a:srgbClr val="e877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18"/>
          <p:cNvSpPr/>
          <p:nvPr/>
        </p:nvSpPr>
        <p:spPr>
          <a:xfrm>
            <a:off x="5897880" y="3520440"/>
            <a:ext cx="3193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19"/>
          <p:cNvSpPr/>
          <p:nvPr/>
        </p:nvSpPr>
        <p:spPr>
          <a:xfrm>
            <a:off x="6291000" y="3502080"/>
            <a:ext cx="25596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Não roda em produção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20"/>
          <p:cNvSpPr/>
          <p:nvPr/>
        </p:nvSpPr>
        <p:spPr>
          <a:xfrm>
            <a:off x="6291000" y="3840480"/>
            <a:ext cx="25596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7b9fc4"/>
                </a:solidFill>
                <a:effectLst/>
                <a:uFillTx/>
                <a:latin typeface="Calibri"/>
                <a:ea typeface="Calibri"/>
              </a:rPr>
              <a:t>No front-end, Node é usado só no desenvolvimento</a:t>
            </a:r>
            <a:endParaRPr b="0" lang="pt-B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21"/>
          <p:cNvSpPr/>
          <p:nvPr/>
        </p:nvSpPr>
        <p:spPr>
          <a:xfrm>
            <a:off x="8412480" y="4754880"/>
            <a:ext cx="6393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9aaac0"/>
                </a:solidFill>
                <a:effectLst/>
                <a:uFillTx/>
                <a:latin typeface="Calibri"/>
                <a:ea typeface="Calibri"/>
              </a:rPr>
              <a:t>3 / 18</a:t>
            </a:r>
            <a:endParaRPr b="0" lang="pt-B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hape 0"/>
          <p:cNvSpPr/>
          <p:nvPr/>
        </p:nvSpPr>
        <p:spPr>
          <a:xfrm>
            <a:off x="0" y="0"/>
            <a:ext cx="54000" cy="514296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Shape 1"/>
          <p:cNvSpPr/>
          <p:nvPr/>
        </p:nvSpPr>
        <p:spPr>
          <a:xfrm>
            <a:off x="274320" y="164520"/>
            <a:ext cx="1402920" cy="25524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2"/>
          <p:cNvSpPr/>
          <p:nvPr/>
        </p:nvSpPr>
        <p:spPr>
          <a:xfrm>
            <a:off x="274320" y="173880"/>
            <a:ext cx="14029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NODE.JS &amp; NPM</a:t>
            </a:r>
            <a:endParaRPr b="0" lang="pt-BR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3"/>
          <p:cNvSpPr/>
          <p:nvPr/>
        </p:nvSpPr>
        <p:spPr>
          <a:xfrm>
            <a:off x="320040" y="502920"/>
            <a:ext cx="82288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npm — Comandos essenciais</a:t>
            </a:r>
            <a:endParaRPr b="0" lang="pt-BR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Shape 4"/>
          <p:cNvSpPr/>
          <p:nvPr/>
        </p:nvSpPr>
        <p:spPr>
          <a:xfrm>
            <a:off x="228600" y="1188720"/>
            <a:ext cx="8686080" cy="593640"/>
          </a:xfrm>
          <a:prstGeom prst="rect">
            <a:avLst/>
          </a:prstGeom>
          <a:solidFill>
            <a:srgbClr val="162b50"/>
          </a:solidFill>
          <a:ln w="12700">
            <a:solidFill>
              <a:srgbClr val="2a4a7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5"/>
          <p:cNvSpPr/>
          <p:nvPr/>
        </p:nvSpPr>
        <p:spPr>
          <a:xfrm>
            <a:off x="365760" y="1261800"/>
            <a:ext cx="502848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6bb5ff"/>
                </a:solidFill>
                <a:effectLst/>
                <a:uFillTx/>
                <a:latin typeface="Courier New"/>
                <a:ea typeface="Courier New"/>
              </a:rPr>
              <a:t>npm init -y</a:t>
            </a:r>
            <a:endParaRPr b="0" lang="pt-BR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6"/>
          <p:cNvSpPr/>
          <p:nvPr/>
        </p:nvSpPr>
        <p:spPr>
          <a:xfrm>
            <a:off x="5394960" y="1261800"/>
            <a:ext cx="338256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→  Inicializar projeto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Shape 7"/>
          <p:cNvSpPr/>
          <p:nvPr/>
        </p:nvSpPr>
        <p:spPr>
          <a:xfrm>
            <a:off x="228600" y="1901880"/>
            <a:ext cx="8686080" cy="593640"/>
          </a:xfrm>
          <a:prstGeom prst="rect">
            <a:avLst/>
          </a:prstGeom>
          <a:solidFill>
            <a:srgbClr val="1b3a6b"/>
          </a:solidFill>
          <a:ln w="12700">
            <a:solidFill>
              <a:srgbClr val="2a4a7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8"/>
          <p:cNvSpPr/>
          <p:nvPr/>
        </p:nvSpPr>
        <p:spPr>
          <a:xfrm>
            <a:off x="365760" y="1974960"/>
            <a:ext cx="502848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6bb5ff"/>
                </a:solidFill>
                <a:effectLst/>
                <a:uFillTx/>
                <a:latin typeface="Courier New"/>
                <a:ea typeface="Courier New"/>
              </a:rPr>
              <a:t>npm install axios</a:t>
            </a:r>
            <a:endParaRPr b="0" lang="pt-BR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9"/>
          <p:cNvSpPr/>
          <p:nvPr/>
        </p:nvSpPr>
        <p:spPr>
          <a:xfrm>
            <a:off x="5394960" y="1974960"/>
            <a:ext cx="338256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→  Instalar dependência de produção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Shape 10"/>
          <p:cNvSpPr/>
          <p:nvPr/>
        </p:nvSpPr>
        <p:spPr>
          <a:xfrm>
            <a:off x="228600" y="2615040"/>
            <a:ext cx="8686080" cy="593640"/>
          </a:xfrm>
          <a:prstGeom prst="rect">
            <a:avLst/>
          </a:prstGeom>
          <a:solidFill>
            <a:srgbClr val="162b50"/>
          </a:solidFill>
          <a:ln w="12700">
            <a:solidFill>
              <a:srgbClr val="2a4a7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11"/>
          <p:cNvSpPr/>
          <p:nvPr/>
        </p:nvSpPr>
        <p:spPr>
          <a:xfrm>
            <a:off x="365760" y="2688480"/>
            <a:ext cx="502848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6bb5ff"/>
                </a:solidFill>
                <a:effectLst/>
                <a:uFillTx/>
                <a:latin typeface="Courier New"/>
                <a:ea typeface="Courier New"/>
              </a:rPr>
              <a:t>npm install --save-dev eslint</a:t>
            </a:r>
            <a:endParaRPr b="0" lang="pt-BR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12"/>
          <p:cNvSpPr/>
          <p:nvPr/>
        </p:nvSpPr>
        <p:spPr>
          <a:xfrm>
            <a:off x="5394960" y="2688480"/>
            <a:ext cx="338256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→  Instalar dependência de desenvolvimento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Shape 13"/>
          <p:cNvSpPr/>
          <p:nvPr/>
        </p:nvSpPr>
        <p:spPr>
          <a:xfrm>
            <a:off x="228600" y="3328560"/>
            <a:ext cx="8686080" cy="593640"/>
          </a:xfrm>
          <a:prstGeom prst="rect">
            <a:avLst/>
          </a:prstGeom>
          <a:solidFill>
            <a:srgbClr val="1b3a6b"/>
          </a:solidFill>
          <a:ln w="12700">
            <a:solidFill>
              <a:srgbClr val="2a4a7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14"/>
          <p:cNvSpPr/>
          <p:nvPr/>
        </p:nvSpPr>
        <p:spPr>
          <a:xfrm>
            <a:off x="365760" y="3401640"/>
            <a:ext cx="502848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6bb5ff"/>
                </a:solidFill>
                <a:effectLst/>
                <a:uFillTx/>
                <a:latin typeface="Courier New"/>
                <a:ea typeface="Courier New"/>
              </a:rPr>
              <a:t>npm run dev</a:t>
            </a:r>
            <a:endParaRPr b="0" lang="pt-BR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15"/>
          <p:cNvSpPr/>
          <p:nvPr/>
        </p:nvSpPr>
        <p:spPr>
          <a:xfrm>
            <a:off x="5394960" y="3401640"/>
            <a:ext cx="338256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→  Executar script definido no package.json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Shape 16"/>
          <p:cNvSpPr/>
          <p:nvPr/>
        </p:nvSpPr>
        <p:spPr>
          <a:xfrm>
            <a:off x="228600" y="4041720"/>
            <a:ext cx="8686080" cy="593640"/>
          </a:xfrm>
          <a:prstGeom prst="rect">
            <a:avLst/>
          </a:prstGeom>
          <a:solidFill>
            <a:srgbClr val="162b50"/>
          </a:solidFill>
          <a:ln w="12700">
            <a:solidFill>
              <a:srgbClr val="2a4a7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17"/>
          <p:cNvSpPr/>
          <p:nvPr/>
        </p:nvSpPr>
        <p:spPr>
          <a:xfrm>
            <a:off x="365760" y="4114800"/>
            <a:ext cx="502848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6bb5ff"/>
                </a:solidFill>
                <a:effectLst/>
                <a:uFillTx/>
                <a:latin typeface="Courier New"/>
                <a:ea typeface="Courier New"/>
              </a:rPr>
              <a:t>npm uninstall axios</a:t>
            </a:r>
            <a:endParaRPr b="0" lang="pt-BR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18"/>
          <p:cNvSpPr/>
          <p:nvPr/>
        </p:nvSpPr>
        <p:spPr>
          <a:xfrm>
            <a:off x="5394960" y="4114800"/>
            <a:ext cx="338256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→  Remover pacote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19"/>
          <p:cNvSpPr/>
          <p:nvPr/>
        </p:nvSpPr>
        <p:spPr>
          <a:xfrm>
            <a:off x="228600" y="4709160"/>
            <a:ext cx="8686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trike="noStrike" u="none">
                <a:solidFill>
                  <a:srgbClr val="e87722"/>
                </a:solidFill>
                <a:effectLst/>
                <a:uFillTx/>
                <a:latin typeface="Calibri"/>
                <a:ea typeface="Calibri"/>
              </a:rPr>
              <a:t>💡  Atenção: nunca commite a pasta node_modules — ela é gerada pelo npm install</a:t>
            </a:r>
            <a:endParaRPr b="0" lang="pt-BR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20"/>
          <p:cNvSpPr/>
          <p:nvPr/>
        </p:nvSpPr>
        <p:spPr>
          <a:xfrm>
            <a:off x="8412480" y="4754880"/>
            <a:ext cx="6393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7b9fc4"/>
                </a:solidFill>
                <a:effectLst/>
                <a:uFillTx/>
                <a:latin typeface="Calibri"/>
                <a:ea typeface="Calibri"/>
              </a:rPr>
              <a:t>4 / 18</a:t>
            </a:r>
            <a:endParaRPr b="0" lang="pt-BR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Shape 0"/>
          <p:cNvSpPr/>
          <p:nvPr/>
        </p:nvSpPr>
        <p:spPr>
          <a:xfrm>
            <a:off x="274320" y="164520"/>
            <a:ext cx="1402920" cy="25524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1"/>
          <p:cNvSpPr/>
          <p:nvPr/>
        </p:nvSpPr>
        <p:spPr>
          <a:xfrm>
            <a:off x="274320" y="173880"/>
            <a:ext cx="14029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NODE.JS &amp; NPM</a:t>
            </a:r>
            <a:endParaRPr b="0" lang="pt-B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2"/>
          <p:cNvSpPr/>
          <p:nvPr/>
        </p:nvSpPr>
        <p:spPr>
          <a:xfrm>
            <a:off x="365760" y="502920"/>
            <a:ext cx="54856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0f1f3d"/>
                </a:solidFill>
                <a:effectLst/>
                <a:uFillTx/>
                <a:latin typeface="Trebuchet MS"/>
                <a:ea typeface="Trebuchet MS"/>
              </a:rPr>
              <a:t>Anatomia do package.json</a:t>
            </a:r>
            <a:endParaRPr b="0" lang="pt-B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Shape 3"/>
          <p:cNvSpPr/>
          <p:nvPr/>
        </p:nvSpPr>
        <p:spPr>
          <a:xfrm>
            <a:off x="365760" y="1188720"/>
            <a:ext cx="5028480" cy="3291120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4"/>
          <p:cNvSpPr/>
          <p:nvPr/>
        </p:nvSpPr>
        <p:spPr>
          <a:xfrm>
            <a:off x="502920" y="1325880"/>
            <a:ext cx="4754160" cy="30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6bb5ff"/>
                </a:solidFill>
                <a:effectLst/>
                <a:uFillTx/>
                <a:latin typeface="Courier New"/>
                <a:ea typeface="Courier New"/>
              </a:rPr>
              <a:t>{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6bb5ff"/>
                </a:solidFill>
                <a:effectLst/>
                <a:uFillTx/>
                <a:latin typeface="Courier New"/>
                <a:ea typeface="Courier New"/>
              </a:rPr>
              <a:t>  "scripts": {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6bb5ff"/>
                </a:solidFill>
                <a:effectLst/>
                <a:uFillTx/>
                <a:latin typeface="Courier New"/>
                <a:ea typeface="Courier New"/>
              </a:rPr>
              <a:t>    "dev":    "vite",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6bb5ff"/>
                </a:solidFill>
                <a:effectLst/>
                <a:uFillTx/>
                <a:latin typeface="Courier New"/>
                <a:ea typeface="Courier New"/>
              </a:rPr>
              <a:t>    "build":  "vite build",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6bb5ff"/>
                </a:solidFill>
                <a:effectLst/>
                <a:uFillTx/>
                <a:latin typeface="Courier New"/>
                <a:ea typeface="Courier New"/>
              </a:rPr>
              <a:t>    "lint":   "eslint . --ext .js,.ts"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6bb5ff"/>
                </a:solidFill>
                <a:effectLst/>
                <a:uFillTx/>
                <a:latin typeface="Courier New"/>
                <a:ea typeface="Courier New"/>
              </a:rPr>
              <a:t>  },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6bb5ff"/>
                </a:solidFill>
                <a:effectLst/>
                <a:uFillTx/>
                <a:latin typeface="Courier New"/>
                <a:ea typeface="Courier New"/>
              </a:rPr>
              <a:t>  "dependencies":    { "axios": "^1.6.0" },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6bb5ff"/>
                </a:solidFill>
                <a:effectLst/>
                <a:uFillTx/>
                <a:latin typeface="Courier New"/>
                <a:ea typeface="Courier New"/>
              </a:rPr>
              <a:t>  "devDependencies": { "eslint": "^8.57.0" }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6bb5ff"/>
                </a:solidFill>
                <a:effectLst/>
                <a:uFillTx/>
                <a:latin typeface="Courier New"/>
                <a:ea typeface="Courier New"/>
              </a:rPr>
              <a:t>}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Shape 5"/>
          <p:cNvSpPr/>
          <p:nvPr/>
        </p:nvSpPr>
        <p:spPr>
          <a:xfrm>
            <a:off x="5577840" y="1188720"/>
            <a:ext cx="3382560" cy="1005120"/>
          </a:xfrm>
          <a:prstGeom prst="rect">
            <a:avLst/>
          </a:prstGeom>
          <a:solidFill>
            <a:srgbClr val="162b50"/>
          </a:solidFill>
          <a:ln w="12700">
            <a:solidFill>
              <a:srgbClr val="2a4a7f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" name="Shape 6"/>
          <p:cNvSpPr/>
          <p:nvPr/>
        </p:nvSpPr>
        <p:spPr>
          <a:xfrm>
            <a:off x="5577840" y="1188720"/>
            <a:ext cx="45000" cy="100512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7"/>
          <p:cNvSpPr/>
          <p:nvPr/>
        </p:nvSpPr>
        <p:spPr>
          <a:xfrm>
            <a:off x="5687640" y="1234440"/>
            <a:ext cx="310824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e87722"/>
                </a:solidFill>
                <a:effectLst/>
                <a:uFillTx/>
                <a:latin typeface="Courier New"/>
                <a:ea typeface="Courier New"/>
              </a:rPr>
              <a:t>scripts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8"/>
          <p:cNvSpPr/>
          <p:nvPr/>
        </p:nvSpPr>
        <p:spPr>
          <a:xfrm>
            <a:off x="5687640" y="1572840"/>
            <a:ext cx="310824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Atalhos para comandos do projeto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Shape 9"/>
          <p:cNvSpPr/>
          <p:nvPr/>
        </p:nvSpPr>
        <p:spPr>
          <a:xfrm>
            <a:off x="5577840" y="2377440"/>
            <a:ext cx="3382560" cy="1005120"/>
          </a:xfrm>
          <a:prstGeom prst="rect">
            <a:avLst/>
          </a:prstGeom>
          <a:solidFill>
            <a:srgbClr val="162b50"/>
          </a:solidFill>
          <a:ln w="12700">
            <a:solidFill>
              <a:srgbClr val="2a4a7f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" name="Shape 10"/>
          <p:cNvSpPr/>
          <p:nvPr/>
        </p:nvSpPr>
        <p:spPr>
          <a:xfrm>
            <a:off x="5577840" y="2377440"/>
            <a:ext cx="45000" cy="100512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11"/>
          <p:cNvSpPr/>
          <p:nvPr/>
        </p:nvSpPr>
        <p:spPr>
          <a:xfrm>
            <a:off x="5687640" y="2423160"/>
            <a:ext cx="310824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e87722"/>
                </a:solidFill>
                <a:effectLst/>
                <a:uFillTx/>
                <a:latin typeface="Courier New"/>
                <a:ea typeface="Courier New"/>
              </a:rPr>
              <a:t>dependencies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12"/>
          <p:cNvSpPr/>
          <p:nvPr/>
        </p:nvSpPr>
        <p:spPr>
          <a:xfrm>
            <a:off x="5687640" y="2761560"/>
            <a:ext cx="310824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Bibliotecas usadas em produção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Shape 13"/>
          <p:cNvSpPr/>
          <p:nvPr/>
        </p:nvSpPr>
        <p:spPr>
          <a:xfrm>
            <a:off x="5577840" y="3566160"/>
            <a:ext cx="3382560" cy="1005120"/>
          </a:xfrm>
          <a:prstGeom prst="rect">
            <a:avLst/>
          </a:prstGeom>
          <a:solidFill>
            <a:srgbClr val="162b50"/>
          </a:solidFill>
          <a:ln w="12700">
            <a:solidFill>
              <a:srgbClr val="2a4a7f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" name="Shape 14"/>
          <p:cNvSpPr/>
          <p:nvPr/>
        </p:nvSpPr>
        <p:spPr>
          <a:xfrm>
            <a:off x="5577840" y="3566160"/>
            <a:ext cx="45000" cy="100512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15"/>
          <p:cNvSpPr/>
          <p:nvPr/>
        </p:nvSpPr>
        <p:spPr>
          <a:xfrm>
            <a:off x="5687640" y="3611880"/>
            <a:ext cx="310824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e87722"/>
                </a:solidFill>
                <a:effectLst/>
                <a:uFillTx/>
                <a:latin typeface="Courier New"/>
                <a:ea typeface="Courier New"/>
              </a:rPr>
              <a:t>devDependencies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16"/>
          <p:cNvSpPr/>
          <p:nvPr/>
        </p:nvSpPr>
        <p:spPr>
          <a:xfrm>
            <a:off x="5687640" y="3950280"/>
            <a:ext cx="310824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Ferramentas apenas para o desenvolvimento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17"/>
          <p:cNvSpPr/>
          <p:nvPr/>
        </p:nvSpPr>
        <p:spPr>
          <a:xfrm>
            <a:off x="8412480" y="4754880"/>
            <a:ext cx="6393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9aaac0"/>
                </a:solidFill>
                <a:effectLst/>
                <a:uFillTx/>
                <a:latin typeface="Calibri"/>
                <a:ea typeface="Calibri"/>
              </a:rPr>
              <a:t>5 / 18</a:t>
            </a:r>
            <a:endParaRPr b="0" lang="pt-B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Shape 0"/>
          <p:cNvSpPr/>
          <p:nvPr/>
        </p:nvSpPr>
        <p:spPr>
          <a:xfrm>
            <a:off x="0" y="0"/>
            <a:ext cx="54000" cy="514296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" name="Shape 1"/>
          <p:cNvSpPr/>
          <p:nvPr/>
        </p:nvSpPr>
        <p:spPr>
          <a:xfrm>
            <a:off x="274320" y="164520"/>
            <a:ext cx="968400" cy="25524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2"/>
          <p:cNvSpPr/>
          <p:nvPr/>
        </p:nvSpPr>
        <p:spPr>
          <a:xfrm>
            <a:off x="274320" y="173880"/>
            <a:ext cx="9684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TERMINAL</a:t>
            </a:r>
            <a:endParaRPr b="0" lang="pt-BR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4" name="Image 0" descr="preencoded.png"/>
          <p:cNvPicPr/>
          <p:nvPr/>
        </p:nvPicPr>
        <p:blipFill>
          <a:blip r:embed="rId1"/>
          <a:stretch/>
        </p:blipFill>
        <p:spPr>
          <a:xfrm>
            <a:off x="7772400" y="274320"/>
            <a:ext cx="1096560" cy="1096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5" name="Text 3"/>
          <p:cNvSpPr/>
          <p:nvPr/>
        </p:nvSpPr>
        <p:spPr>
          <a:xfrm>
            <a:off x="320040" y="457200"/>
            <a:ext cx="68572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Terminal para front-end</a:t>
            </a:r>
            <a:endParaRPr b="0" lang="pt-BR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" name="Shape 4"/>
          <p:cNvSpPr/>
          <p:nvPr/>
        </p:nvSpPr>
        <p:spPr>
          <a:xfrm>
            <a:off x="228600" y="1143000"/>
            <a:ext cx="8686080" cy="410760"/>
          </a:xfrm>
          <a:prstGeom prst="rect">
            <a:avLst/>
          </a:prstGeom>
          <a:solidFill>
            <a:srgbClr val="1b3a6b"/>
          </a:solidFill>
          <a:ln w="12700">
            <a:solidFill>
              <a:srgbClr val="2a4a7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5"/>
          <p:cNvSpPr/>
          <p:nvPr/>
        </p:nvSpPr>
        <p:spPr>
          <a:xfrm>
            <a:off x="365760" y="1170360"/>
            <a:ext cx="255960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Comando</a:t>
            </a:r>
            <a:endParaRPr b="0" lang="pt-BR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6"/>
          <p:cNvSpPr/>
          <p:nvPr/>
        </p:nvSpPr>
        <p:spPr>
          <a:xfrm>
            <a:off x="3017520" y="1170360"/>
            <a:ext cx="585144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O que faz</a:t>
            </a:r>
            <a:endParaRPr b="0" lang="pt-BR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" name="Shape 7"/>
          <p:cNvSpPr/>
          <p:nvPr/>
        </p:nvSpPr>
        <p:spPr>
          <a:xfrm>
            <a:off x="228600" y="1572840"/>
            <a:ext cx="8686080" cy="447480"/>
          </a:xfrm>
          <a:prstGeom prst="rect">
            <a:avLst/>
          </a:prstGeom>
          <a:solidFill>
            <a:srgbClr val="162b50"/>
          </a:solidFill>
          <a:ln w="12700">
            <a:solidFill>
              <a:srgbClr val="2a4a7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8"/>
          <p:cNvSpPr/>
          <p:nvPr/>
        </p:nvSpPr>
        <p:spPr>
          <a:xfrm>
            <a:off x="365760" y="1618560"/>
            <a:ext cx="255960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6bb5ff"/>
                </a:solidFill>
                <a:effectLst/>
                <a:uFillTx/>
                <a:latin typeface="Courier New"/>
                <a:ea typeface="Courier New"/>
              </a:rPr>
              <a:t>pwd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9"/>
          <p:cNvSpPr/>
          <p:nvPr/>
        </p:nvSpPr>
        <p:spPr>
          <a:xfrm>
            <a:off x="3017520" y="1618560"/>
            <a:ext cx="576000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Mostra o diretório atual</a:t>
            </a:r>
            <a:endParaRPr b="0" lang="pt-BR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" name="Shape 10"/>
          <p:cNvSpPr/>
          <p:nvPr/>
        </p:nvSpPr>
        <p:spPr>
          <a:xfrm>
            <a:off x="228600" y="2039040"/>
            <a:ext cx="8686080" cy="447480"/>
          </a:xfrm>
          <a:prstGeom prst="rect">
            <a:avLst/>
          </a:prstGeom>
          <a:solidFill>
            <a:srgbClr val="0d1b2a"/>
          </a:solidFill>
          <a:ln w="12700">
            <a:solidFill>
              <a:srgbClr val="2a4a7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11"/>
          <p:cNvSpPr/>
          <p:nvPr/>
        </p:nvSpPr>
        <p:spPr>
          <a:xfrm>
            <a:off x="365760" y="2084760"/>
            <a:ext cx="255960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6bb5ff"/>
                </a:solidFill>
                <a:effectLst/>
                <a:uFillTx/>
                <a:latin typeface="Courier New"/>
                <a:ea typeface="Courier New"/>
              </a:rPr>
              <a:t>ls  /  dir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12"/>
          <p:cNvSpPr/>
          <p:nvPr/>
        </p:nvSpPr>
        <p:spPr>
          <a:xfrm>
            <a:off x="3017520" y="2084760"/>
            <a:ext cx="576000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Lista arquivos e pastas (Unix / Windows)</a:t>
            </a:r>
            <a:endParaRPr b="0" lang="pt-BR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" name="Shape 13"/>
          <p:cNvSpPr/>
          <p:nvPr/>
        </p:nvSpPr>
        <p:spPr>
          <a:xfrm>
            <a:off x="228600" y="2505600"/>
            <a:ext cx="8686080" cy="447480"/>
          </a:xfrm>
          <a:prstGeom prst="rect">
            <a:avLst/>
          </a:prstGeom>
          <a:solidFill>
            <a:srgbClr val="162b50"/>
          </a:solidFill>
          <a:ln w="12700">
            <a:solidFill>
              <a:srgbClr val="2a4a7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14"/>
          <p:cNvSpPr/>
          <p:nvPr/>
        </p:nvSpPr>
        <p:spPr>
          <a:xfrm>
            <a:off x="365760" y="2551320"/>
            <a:ext cx="255960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6bb5ff"/>
                </a:solidFill>
                <a:effectLst/>
                <a:uFillTx/>
                <a:latin typeface="Courier New"/>
                <a:ea typeface="Courier New"/>
              </a:rPr>
              <a:t>cd nome-da-pasta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15"/>
          <p:cNvSpPr/>
          <p:nvPr/>
        </p:nvSpPr>
        <p:spPr>
          <a:xfrm>
            <a:off x="3017520" y="2551320"/>
            <a:ext cx="576000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Entra em uma pasta</a:t>
            </a:r>
            <a:endParaRPr b="0" lang="pt-BR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" name="Shape 16"/>
          <p:cNvSpPr/>
          <p:nvPr/>
        </p:nvSpPr>
        <p:spPr>
          <a:xfrm>
            <a:off x="228600" y="2971800"/>
            <a:ext cx="8686080" cy="447480"/>
          </a:xfrm>
          <a:prstGeom prst="rect">
            <a:avLst/>
          </a:prstGeom>
          <a:solidFill>
            <a:srgbClr val="0d1b2a"/>
          </a:solidFill>
          <a:ln w="12700">
            <a:solidFill>
              <a:srgbClr val="2a4a7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17"/>
          <p:cNvSpPr/>
          <p:nvPr/>
        </p:nvSpPr>
        <p:spPr>
          <a:xfrm>
            <a:off x="365760" y="3017520"/>
            <a:ext cx="255960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6bb5ff"/>
                </a:solidFill>
                <a:effectLst/>
                <a:uFillTx/>
                <a:latin typeface="Courier New"/>
                <a:ea typeface="Courier New"/>
              </a:rPr>
              <a:t>mkdir nome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18"/>
          <p:cNvSpPr/>
          <p:nvPr/>
        </p:nvSpPr>
        <p:spPr>
          <a:xfrm>
            <a:off x="3017520" y="3017520"/>
            <a:ext cx="576000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Cria uma nova pasta</a:t>
            </a:r>
            <a:endParaRPr b="0" lang="pt-BR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" name="Shape 19"/>
          <p:cNvSpPr/>
          <p:nvPr/>
        </p:nvSpPr>
        <p:spPr>
          <a:xfrm>
            <a:off x="228600" y="3438000"/>
            <a:ext cx="8686080" cy="447480"/>
          </a:xfrm>
          <a:prstGeom prst="rect">
            <a:avLst/>
          </a:prstGeom>
          <a:solidFill>
            <a:srgbClr val="162b50"/>
          </a:solidFill>
          <a:ln w="12700">
            <a:solidFill>
              <a:srgbClr val="2a4a7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20"/>
          <p:cNvSpPr/>
          <p:nvPr/>
        </p:nvSpPr>
        <p:spPr>
          <a:xfrm>
            <a:off x="365760" y="3483720"/>
            <a:ext cx="255960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6bb5ff"/>
                </a:solidFill>
                <a:effectLst/>
                <a:uFillTx/>
                <a:latin typeface="Courier New"/>
                <a:ea typeface="Courier New"/>
              </a:rPr>
              <a:t>touch arquivo.js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21"/>
          <p:cNvSpPr/>
          <p:nvPr/>
        </p:nvSpPr>
        <p:spPr>
          <a:xfrm>
            <a:off x="3017520" y="3483720"/>
            <a:ext cx="576000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Cria um arquivo vazio (Unix)</a:t>
            </a:r>
            <a:endParaRPr b="0" lang="pt-BR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" name="Shape 22"/>
          <p:cNvSpPr/>
          <p:nvPr/>
        </p:nvSpPr>
        <p:spPr>
          <a:xfrm>
            <a:off x="228600" y="3904560"/>
            <a:ext cx="8686080" cy="447480"/>
          </a:xfrm>
          <a:prstGeom prst="rect">
            <a:avLst/>
          </a:prstGeom>
          <a:solidFill>
            <a:srgbClr val="0d1b2a"/>
          </a:solidFill>
          <a:ln w="12700">
            <a:solidFill>
              <a:srgbClr val="2a4a7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23"/>
          <p:cNvSpPr/>
          <p:nvPr/>
        </p:nvSpPr>
        <p:spPr>
          <a:xfrm>
            <a:off x="365760" y="3950280"/>
            <a:ext cx="255960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6bb5ff"/>
                </a:solidFill>
                <a:effectLst/>
                <a:uFillTx/>
                <a:latin typeface="Courier New"/>
                <a:ea typeface="Courier New"/>
              </a:rPr>
              <a:t>npm run dev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24"/>
          <p:cNvSpPr/>
          <p:nvPr/>
        </p:nvSpPr>
        <p:spPr>
          <a:xfrm>
            <a:off x="3017520" y="3950280"/>
            <a:ext cx="576000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Executa o servidor de desenvolvimento</a:t>
            </a:r>
            <a:endParaRPr b="0" lang="pt-BR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" name="Shape 25"/>
          <p:cNvSpPr/>
          <p:nvPr/>
        </p:nvSpPr>
        <p:spPr>
          <a:xfrm>
            <a:off x="228600" y="4370760"/>
            <a:ext cx="8686080" cy="447480"/>
          </a:xfrm>
          <a:prstGeom prst="rect">
            <a:avLst/>
          </a:prstGeom>
          <a:solidFill>
            <a:srgbClr val="162b50"/>
          </a:solidFill>
          <a:ln w="12700">
            <a:solidFill>
              <a:srgbClr val="2a4a7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26"/>
          <p:cNvSpPr/>
          <p:nvPr/>
        </p:nvSpPr>
        <p:spPr>
          <a:xfrm>
            <a:off x="365760" y="4416480"/>
            <a:ext cx="255960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6bb5ff"/>
                </a:solidFill>
                <a:effectLst/>
                <a:uFillTx/>
                <a:latin typeface="Courier New"/>
                <a:ea typeface="Courier New"/>
              </a:rPr>
              <a:t>Ctrl + C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27"/>
          <p:cNvSpPr/>
          <p:nvPr/>
        </p:nvSpPr>
        <p:spPr>
          <a:xfrm>
            <a:off x="3017520" y="4416480"/>
            <a:ext cx="576000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Interrompe o processo em execução</a:t>
            </a:r>
            <a:endParaRPr b="0" lang="pt-BR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 28"/>
          <p:cNvSpPr/>
          <p:nvPr/>
        </p:nvSpPr>
        <p:spPr>
          <a:xfrm>
            <a:off x="8412480" y="4754880"/>
            <a:ext cx="6393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7b9fc4"/>
                </a:solidFill>
                <a:effectLst/>
                <a:uFillTx/>
                <a:latin typeface="Calibri"/>
                <a:ea typeface="Calibri"/>
              </a:rPr>
              <a:t>6 / 18</a:t>
            </a:r>
            <a:endParaRPr b="0" lang="pt-BR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Shape 0"/>
          <p:cNvSpPr/>
          <p:nvPr/>
        </p:nvSpPr>
        <p:spPr>
          <a:xfrm>
            <a:off x="274320" y="164520"/>
            <a:ext cx="1316160" cy="25524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1"/>
          <p:cNvSpPr/>
          <p:nvPr/>
        </p:nvSpPr>
        <p:spPr>
          <a:xfrm>
            <a:off x="274320" y="173880"/>
            <a:ext cx="131616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GIT &amp; GITHUB</a:t>
            </a:r>
            <a:endParaRPr b="0" lang="pt-B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2"/>
          <p:cNvSpPr/>
          <p:nvPr/>
        </p:nvSpPr>
        <p:spPr>
          <a:xfrm>
            <a:off x="365760" y="502920"/>
            <a:ext cx="82288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0f1f3d"/>
                </a:solidFill>
                <a:effectLst/>
                <a:uFillTx/>
                <a:latin typeface="Trebuchet MS"/>
                <a:ea typeface="Trebuchet MS"/>
              </a:rPr>
              <a:t>Fluxo de trabalho com Git</a:t>
            </a:r>
            <a:endParaRPr b="0" lang="pt-B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Shape 3"/>
          <p:cNvSpPr/>
          <p:nvPr/>
        </p:nvSpPr>
        <p:spPr>
          <a:xfrm>
            <a:off x="548640" y="1234440"/>
            <a:ext cx="2559600" cy="1919520"/>
          </a:xfrm>
          <a:prstGeom prst="rect">
            <a:avLst/>
          </a:prstGeom>
          <a:solidFill>
            <a:srgbClr val="0f1f3d"/>
          </a:solidFill>
          <a:ln w="12700">
            <a:solidFill>
              <a:srgbClr val="1b3a6b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" name="Shape 4"/>
          <p:cNvSpPr/>
          <p:nvPr/>
        </p:nvSpPr>
        <p:spPr>
          <a:xfrm>
            <a:off x="1554480" y="1097280"/>
            <a:ext cx="547920" cy="547920"/>
          </a:xfrm>
          <a:prstGeom prst="ellipse">
            <a:avLst/>
          </a:prstGeom>
          <a:solidFill>
            <a:srgbClr val="e87722"/>
          </a:solidFill>
          <a:ln w="12700">
            <a:solidFill>
              <a:srgbClr val="e877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5"/>
          <p:cNvSpPr/>
          <p:nvPr/>
        </p:nvSpPr>
        <p:spPr>
          <a:xfrm>
            <a:off x="1554480" y="1097280"/>
            <a:ext cx="54792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1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6"/>
          <p:cNvSpPr/>
          <p:nvPr/>
        </p:nvSpPr>
        <p:spPr>
          <a:xfrm>
            <a:off x="640080" y="1508760"/>
            <a:ext cx="237672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6bb5ff"/>
                </a:solidFill>
                <a:effectLst/>
                <a:uFillTx/>
                <a:latin typeface="Courier New"/>
                <a:ea typeface="Courier New"/>
              </a:rPr>
              <a:t>git add .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7"/>
          <p:cNvSpPr/>
          <p:nvPr/>
        </p:nvSpPr>
        <p:spPr>
          <a:xfrm>
            <a:off x="640080" y="2194560"/>
            <a:ext cx="237672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7b9fc4"/>
                </a:solidFill>
                <a:effectLst/>
                <a:uFillTx/>
                <a:latin typeface="Calibri"/>
                <a:ea typeface="Calibri"/>
              </a:rPr>
              <a:t>Seleciona arquivos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Shape 8"/>
          <p:cNvSpPr/>
          <p:nvPr/>
        </p:nvSpPr>
        <p:spPr>
          <a:xfrm>
            <a:off x="3108960" y="2103120"/>
            <a:ext cx="319320" cy="7236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9"/>
          <p:cNvSpPr/>
          <p:nvPr/>
        </p:nvSpPr>
        <p:spPr>
          <a:xfrm>
            <a:off x="3364920" y="2011680"/>
            <a:ext cx="1821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e87722"/>
                </a:solidFill>
                <a:effectLst/>
                <a:uFillTx/>
                <a:latin typeface="Calibri"/>
                <a:ea typeface="Calibri"/>
              </a:rPr>
              <a:t>▶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Shape 10"/>
          <p:cNvSpPr/>
          <p:nvPr/>
        </p:nvSpPr>
        <p:spPr>
          <a:xfrm>
            <a:off x="3429000" y="1234440"/>
            <a:ext cx="2559600" cy="1919520"/>
          </a:xfrm>
          <a:prstGeom prst="rect">
            <a:avLst/>
          </a:prstGeom>
          <a:solidFill>
            <a:srgbClr val="0f1f3d"/>
          </a:solidFill>
          <a:ln w="12700">
            <a:solidFill>
              <a:srgbClr val="1b3a6b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" name="Shape 11"/>
          <p:cNvSpPr/>
          <p:nvPr/>
        </p:nvSpPr>
        <p:spPr>
          <a:xfrm>
            <a:off x="4434840" y="1097280"/>
            <a:ext cx="547920" cy="547920"/>
          </a:xfrm>
          <a:prstGeom prst="ellipse">
            <a:avLst/>
          </a:prstGeom>
          <a:solidFill>
            <a:srgbClr val="e87722"/>
          </a:solidFill>
          <a:ln w="12700">
            <a:solidFill>
              <a:srgbClr val="e877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12"/>
          <p:cNvSpPr/>
          <p:nvPr/>
        </p:nvSpPr>
        <p:spPr>
          <a:xfrm>
            <a:off x="4434840" y="1097280"/>
            <a:ext cx="54792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2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13"/>
          <p:cNvSpPr/>
          <p:nvPr/>
        </p:nvSpPr>
        <p:spPr>
          <a:xfrm>
            <a:off x="3520440" y="1508760"/>
            <a:ext cx="237672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6bb5ff"/>
                </a:solidFill>
                <a:effectLst/>
                <a:uFillTx/>
                <a:latin typeface="Courier New"/>
                <a:ea typeface="Courier New"/>
              </a:rPr>
              <a:t>git commit -m "..."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14"/>
          <p:cNvSpPr/>
          <p:nvPr/>
        </p:nvSpPr>
        <p:spPr>
          <a:xfrm>
            <a:off x="3520440" y="2194560"/>
            <a:ext cx="237672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7b9fc4"/>
                </a:solidFill>
                <a:effectLst/>
                <a:uFillTx/>
                <a:latin typeface="Calibri"/>
                <a:ea typeface="Calibri"/>
              </a:rPr>
              <a:t>Registra mudança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Shape 15"/>
          <p:cNvSpPr/>
          <p:nvPr/>
        </p:nvSpPr>
        <p:spPr>
          <a:xfrm>
            <a:off x="5989320" y="2103120"/>
            <a:ext cx="319320" cy="7236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16"/>
          <p:cNvSpPr/>
          <p:nvPr/>
        </p:nvSpPr>
        <p:spPr>
          <a:xfrm>
            <a:off x="6245280" y="2011680"/>
            <a:ext cx="1821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e87722"/>
                </a:solidFill>
                <a:effectLst/>
                <a:uFillTx/>
                <a:latin typeface="Calibri"/>
                <a:ea typeface="Calibri"/>
              </a:rPr>
              <a:t>▶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Shape 17"/>
          <p:cNvSpPr/>
          <p:nvPr/>
        </p:nvSpPr>
        <p:spPr>
          <a:xfrm>
            <a:off x="6309360" y="1234440"/>
            <a:ext cx="2559600" cy="1919520"/>
          </a:xfrm>
          <a:prstGeom prst="rect">
            <a:avLst/>
          </a:prstGeom>
          <a:solidFill>
            <a:srgbClr val="0f1f3d"/>
          </a:solidFill>
          <a:ln w="12700">
            <a:solidFill>
              <a:srgbClr val="1b3a6b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" name="Shape 18"/>
          <p:cNvSpPr/>
          <p:nvPr/>
        </p:nvSpPr>
        <p:spPr>
          <a:xfrm>
            <a:off x="7315200" y="1097280"/>
            <a:ext cx="547920" cy="547920"/>
          </a:xfrm>
          <a:prstGeom prst="ellipse">
            <a:avLst/>
          </a:prstGeom>
          <a:solidFill>
            <a:srgbClr val="e87722"/>
          </a:solidFill>
          <a:ln w="12700">
            <a:solidFill>
              <a:srgbClr val="e877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19"/>
          <p:cNvSpPr/>
          <p:nvPr/>
        </p:nvSpPr>
        <p:spPr>
          <a:xfrm>
            <a:off x="7315200" y="1097280"/>
            <a:ext cx="54792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3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20"/>
          <p:cNvSpPr/>
          <p:nvPr/>
        </p:nvSpPr>
        <p:spPr>
          <a:xfrm>
            <a:off x="6400800" y="1508760"/>
            <a:ext cx="237672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6bb5ff"/>
                </a:solidFill>
                <a:effectLst/>
                <a:uFillTx/>
                <a:latin typeface="Courier New"/>
                <a:ea typeface="Courier New"/>
              </a:rPr>
              <a:t>git push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21"/>
          <p:cNvSpPr/>
          <p:nvPr/>
        </p:nvSpPr>
        <p:spPr>
          <a:xfrm>
            <a:off x="6400800" y="2194560"/>
            <a:ext cx="237672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7b9fc4"/>
                </a:solidFill>
                <a:effectLst/>
                <a:uFillTx/>
                <a:latin typeface="Calibri"/>
                <a:ea typeface="Calibri"/>
              </a:rPr>
              <a:t>Envia ao GitHub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Shape 22"/>
          <p:cNvSpPr/>
          <p:nvPr/>
        </p:nvSpPr>
        <p:spPr>
          <a:xfrm>
            <a:off x="365760" y="3383280"/>
            <a:ext cx="8503200" cy="1462320"/>
          </a:xfrm>
          <a:prstGeom prst="rect">
            <a:avLst/>
          </a:prstGeom>
          <a:solidFill>
            <a:srgbClr val="e8eff8"/>
          </a:solidFill>
          <a:ln w="12700">
            <a:solidFill>
              <a:srgbClr val="2a4a7f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Shape 23"/>
          <p:cNvSpPr/>
          <p:nvPr/>
        </p:nvSpPr>
        <p:spPr>
          <a:xfrm>
            <a:off x="365760" y="3383280"/>
            <a:ext cx="45000" cy="14623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24"/>
          <p:cNvSpPr/>
          <p:nvPr/>
        </p:nvSpPr>
        <p:spPr>
          <a:xfrm>
            <a:off x="548640" y="3456360"/>
            <a:ext cx="82288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0f1f3d"/>
                </a:solidFill>
                <a:effectLst/>
                <a:uFillTx/>
                <a:latin typeface="Trebuchet MS"/>
                <a:ea typeface="Trebuchet MS"/>
              </a:rPr>
              <a:t>Feature Branch Workflow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25"/>
          <p:cNvSpPr/>
          <p:nvPr/>
        </p:nvSpPr>
        <p:spPr>
          <a:xfrm>
            <a:off x="548640" y="3840480"/>
            <a:ext cx="822888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1b3a6b"/>
                </a:solidFill>
                <a:effectLst/>
                <a:uFillTx/>
                <a:latin typeface="Courier New"/>
                <a:ea typeface="Courier New"/>
              </a:rPr>
              <a:t>git checkout -b feature/minha-funcionalidade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1b3a6b"/>
                </a:solidFill>
                <a:effectLst/>
                <a:uFillTx/>
                <a:latin typeface="Courier New"/>
                <a:ea typeface="Courier New"/>
              </a:rPr>
              <a:t># ... desenvolve ...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1b3a6b"/>
                </a:solidFill>
                <a:effectLst/>
                <a:uFillTx/>
                <a:latin typeface="Courier New"/>
                <a:ea typeface="Courier New"/>
              </a:rPr>
              <a:t>git push origin feature/minha-funcionalidade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1b3a6b"/>
                </a:solidFill>
                <a:effectLst/>
                <a:uFillTx/>
                <a:latin typeface="Courier New"/>
                <a:ea typeface="Courier New"/>
              </a:rPr>
              <a:t># Abre Pull Request → revisão → merge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 26"/>
          <p:cNvSpPr/>
          <p:nvPr/>
        </p:nvSpPr>
        <p:spPr>
          <a:xfrm>
            <a:off x="8412480" y="4754880"/>
            <a:ext cx="6393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9aaac0"/>
                </a:solidFill>
                <a:effectLst/>
                <a:uFillTx/>
                <a:latin typeface="Calibri"/>
                <a:ea typeface="Calibri"/>
              </a:rPr>
              <a:t>7 / 18</a:t>
            </a:r>
            <a:endParaRPr b="0" lang="pt-B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Shape 0"/>
          <p:cNvSpPr/>
          <p:nvPr/>
        </p:nvSpPr>
        <p:spPr>
          <a:xfrm>
            <a:off x="0" y="0"/>
            <a:ext cx="54000" cy="514296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9" name="Shape 1"/>
          <p:cNvSpPr/>
          <p:nvPr/>
        </p:nvSpPr>
        <p:spPr>
          <a:xfrm>
            <a:off x="274320" y="164520"/>
            <a:ext cx="1316160" cy="25524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2"/>
          <p:cNvSpPr/>
          <p:nvPr/>
        </p:nvSpPr>
        <p:spPr>
          <a:xfrm>
            <a:off x="274320" y="173880"/>
            <a:ext cx="131616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GIT &amp; GITHUB</a:t>
            </a:r>
            <a:endParaRPr b="0" lang="pt-BR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3"/>
          <p:cNvSpPr/>
          <p:nvPr/>
        </p:nvSpPr>
        <p:spPr>
          <a:xfrm>
            <a:off x="320040" y="457200"/>
            <a:ext cx="82288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Conventional Commits</a:t>
            </a:r>
            <a:endParaRPr b="0" lang="pt-BR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 4"/>
          <p:cNvSpPr/>
          <p:nvPr/>
        </p:nvSpPr>
        <p:spPr>
          <a:xfrm>
            <a:off x="320040" y="1024200"/>
            <a:ext cx="82288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7b9fc4"/>
                </a:solidFill>
                <a:effectLst/>
                <a:uFillTx/>
                <a:latin typeface="Calibri"/>
                <a:ea typeface="Calibri"/>
              </a:rPr>
              <a:t>Padrão de mensagens de commit adotado por equipes profissionais</a:t>
            </a:r>
            <a:endParaRPr b="0" lang="pt-BR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" name="Shape 5"/>
          <p:cNvSpPr/>
          <p:nvPr/>
        </p:nvSpPr>
        <p:spPr>
          <a:xfrm>
            <a:off x="228600" y="1463040"/>
            <a:ext cx="4205520" cy="1005120"/>
          </a:xfrm>
          <a:prstGeom prst="rect">
            <a:avLst/>
          </a:prstGeom>
          <a:solidFill>
            <a:srgbClr val="162b50"/>
          </a:solidFill>
          <a:ln w="12700">
            <a:solidFill>
              <a:srgbClr val="2a4a7f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" name="Shape 6"/>
          <p:cNvSpPr/>
          <p:nvPr/>
        </p:nvSpPr>
        <p:spPr>
          <a:xfrm>
            <a:off x="228600" y="1463040"/>
            <a:ext cx="45000" cy="100512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 7"/>
          <p:cNvSpPr/>
          <p:nvPr/>
        </p:nvSpPr>
        <p:spPr>
          <a:xfrm>
            <a:off x="365760" y="1536120"/>
            <a:ext cx="118800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2ecc71"/>
                </a:solidFill>
                <a:effectLst/>
                <a:uFillTx/>
                <a:latin typeface="Courier New"/>
                <a:ea typeface="Courier New"/>
              </a:rPr>
              <a:t>feat: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 8"/>
          <p:cNvSpPr/>
          <p:nvPr/>
        </p:nvSpPr>
        <p:spPr>
          <a:xfrm>
            <a:off x="1600200" y="1536120"/>
            <a:ext cx="27424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Nova funcionalidade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 9"/>
          <p:cNvSpPr/>
          <p:nvPr/>
        </p:nvSpPr>
        <p:spPr>
          <a:xfrm>
            <a:off x="365760" y="1965960"/>
            <a:ext cx="39312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trike="noStrike" u="none">
                <a:solidFill>
                  <a:srgbClr val="7b9fc4"/>
                </a:solidFill>
                <a:effectLst/>
                <a:uFillTx/>
                <a:latin typeface="Courier New"/>
                <a:ea typeface="Courier New"/>
              </a:rPr>
              <a:t>feat: adiciona botão de login</a:t>
            </a:r>
            <a:endParaRPr b="0" lang="pt-BR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8" name="Shape 10"/>
          <p:cNvSpPr/>
          <p:nvPr/>
        </p:nvSpPr>
        <p:spPr>
          <a:xfrm>
            <a:off x="4663440" y="1463040"/>
            <a:ext cx="4205520" cy="1005120"/>
          </a:xfrm>
          <a:prstGeom prst="rect">
            <a:avLst/>
          </a:prstGeom>
          <a:solidFill>
            <a:srgbClr val="162b50"/>
          </a:solidFill>
          <a:ln w="12700">
            <a:solidFill>
              <a:srgbClr val="2a4a7f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9" name="Shape 11"/>
          <p:cNvSpPr/>
          <p:nvPr/>
        </p:nvSpPr>
        <p:spPr>
          <a:xfrm>
            <a:off x="4663440" y="1463040"/>
            <a:ext cx="45000" cy="100512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 12"/>
          <p:cNvSpPr/>
          <p:nvPr/>
        </p:nvSpPr>
        <p:spPr>
          <a:xfrm>
            <a:off x="4800600" y="1536120"/>
            <a:ext cx="118800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e74c3c"/>
                </a:solidFill>
                <a:effectLst/>
                <a:uFillTx/>
                <a:latin typeface="Courier New"/>
                <a:ea typeface="Courier New"/>
              </a:rPr>
              <a:t>fix: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 13"/>
          <p:cNvSpPr/>
          <p:nvPr/>
        </p:nvSpPr>
        <p:spPr>
          <a:xfrm>
            <a:off x="6035040" y="1536120"/>
            <a:ext cx="27424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Correção de bug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 14"/>
          <p:cNvSpPr/>
          <p:nvPr/>
        </p:nvSpPr>
        <p:spPr>
          <a:xfrm>
            <a:off x="4800600" y="1965960"/>
            <a:ext cx="39312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trike="noStrike" u="none">
                <a:solidFill>
                  <a:srgbClr val="7b9fc4"/>
                </a:solidFill>
                <a:effectLst/>
                <a:uFillTx/>
                <a:latin typeface="Courier New"/>
                <a:ea typeface="Courier New"/>
              </a:rPr>
              <a:t>fix: corrige erro no formulário</a:t>
            </a:r>
            <a:endParaRPr b="0" lang="pt-BR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3" name="Shape 15"/>
          <p:cNvSpPr/>
          <p:nvPr/>
        </p:nvSpPr>
        <p:spPr>
          <a:xfrm>
            <a:off x="228600" y="2606040"/>
            <a:ext cx="4205520" cy="1005120"/>
          </a:xfrm>
          <a:prstGeom prst="rect">
            <a:avLst/>
          </a:prstGeom>
          <a:solidFill>
            <a:srgbClr val="162b50"/>
          </a:solidFill>
          <a:ln w="12700">
            <a:solidFill>
              <a:srgbClr val="2a4a7f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4" name="Shape 16"/>
          <p:cNvSpPr/>
          <p:nvPr/>
        </p:nvSpPr>
        <p:spPr>
          <a:xfrm>
            <a:off x="228600" y="2606040"/>
            <a:ext cx="45000" cy="100512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 17"/>
          <p:cNvSpPr/>
          <p:nvPr/>
        </p:nvSpPr>
        <p:spPr>
          <a:xfrm>
            <a:off x="365760" y="2679120"/>
            <a:ext cx="118800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cadcfc"/>
                </a:solidFill>
                <a:effectLst/>
                <a:uFillTx/>
                <a:latin typeface="Courier New"/>
                <a:ea typeface="Courier New"/>
              </a:rPr>
              <a:t>docs: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 18"/>
          <p:cNvSpPr/>
          <p:nvPr/>
        </p:nvSpPr>
        <p:spPr>
          <a:xfrm>
            <a:off x="1600200" y="2679120"/>
            <a:ext cx="27424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Documentação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 19"/>
          <p:cNvSpPr/>
          <p:nvPr/>
        </p:nvSpPr>
        <p:spPr>
          <a:xfrm>
            <a:off x="365760" y="3108960"/>
            <a:ext cx="39312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trike="noStrike" u="none">
                <a:solidFill>
                  <a:srgbClr val="7b9fc4"/>
                </a:solidFill>
                <a:effectLst/>
                <a:uFillTx/>
                <a:latin typeface="Courier New"/>
                <a:ea typeface="Courier New"/>
              </a:rPr>
              <a:t>docs: atualiza o README</a:t>
            </a:r>
            <a:endParaRPr b="0" lang="pt-BR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8" name="Shape 20"/>
          <p:cNvSpPr/>
          <p:nvPr/>
        </p:nvSpPr>
        <p:spPr>
          <a:xfrm>
            <a:off x="4663440" y="2606040"/>
            <a:ext cx="4205520" cy="1005120"/>
          </a:xfrm>
          <a:prstGeom prst="rect">
            <a:avLst/>
          </a:prstGeom>
          <a:solidFill>
            <a:srgbClr val="162b50"/>
          </a:solidFill>
          <a:ln w="12700">
            <a:solidFill>
              <a:srgbClr val="2a4a7f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9" name="Shape 21"/>
          <p:cNvSpPr/>
          <p:nvPr/>
        </p:nvSpPr>
        <p:spPr>
          <a:xfrm>
            <a:off x="4663440" y="2606040"/>
            <a:ext cx="45000" cy="100512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 22"/>
          <p:cNvSpPr/>
          <p:nvPr/>
        </p:nvSpPr>
        <p:spPr>
          <a:xfrm>
            <a:off x="4800600" y="2679120"/>
            <a:ext cx="118800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9b59b6"/>
                </a:solidFill>
                <a:effectLst/>
                <a:uFillTx/>
                <a:latin typeface="Courier New"/>
                <a:ea typeface="Courier New"/>
              </a:rPr>
              <a:t>style: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 23"/>
          <p:cNvSpPr/>
          <p:nvPr/>
        </p:nvSpPr>
        <p:spPr>
          <a:xfrm>
            <a:off x="6035040" y="2679120"/>
            <a:ext cx="27424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Formatação (sem lógica)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 24"/>
          <p:cNvSpPr/>
          <p:nvPr/>
        </p:nvSpPr>
        <p:spPr>
          <a:xfrm>
            <a:off x="4800600" y="3108960"/>
            <a:ext cx="39312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trike="noStrike" u="none">
                <a:solidFill>
                  <a:srgbClr val="7b9fc4"/>
                </a:solidFill>
                <a:effectLst/>
                <a:uFillTx/>
                <a:latin typeface="Courier New"/>
                <a:ea typeface="Courier New"/>
              </a:rPr>
              <a:t>style: aplica Prettier</a:t>
            </a:r>
            <a:endParaRPr b="0" lang="pt-BR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3" name="Shape 25"/>
          <p:cNvSpPr/>
          <p:nvPr/>
        </p:nvSpPr>
        <p:spPr>
          <a:xfrm>
            <a:off x="228600" y="3749040"/>
            <a:ext cx="4205520" cy="1005120"/>
          </a:xfrm>
          <a:prstGeom prst="rect">
            <a:avLst/>
          </a:prstGeom>
          <a:solidFill>
            <a:srgbClr val="162b50"/>
          </a:solidFill>
          <a:ln w="12700">
            <a:solidFill>
              <a:srgbClr val="2a4a7f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4" name="Shape 26"/>
          <p:cNvSpPr/>
          <p:nvPr/>
        </p:nvSpPr>
        <p:spPr>
          <a:xfrm>
            <a:off x="228600" y="3749040"/>
            <a:ext cx="45000" cy="100512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 27"/>
          <p:cNvSpPr/>
          <p:nvPr/>
        </p:nvSpPr>
        <p:spPr>
          <a:xfrm>
            <a:off x="365760" y="3822120"/>
            <a:ext cx="118800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e87722"/>
                </a:solidFill>
                <a:effectLst/>
                <a:uFillTx/>
                <a:latin typeface="Courier New"/>
                <a:ea typeface="Courier New"/>
              </a:rPr>
              <a:t>refactor: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 28"/>
          <p:cNvSpPr/>
          <p:nvPr/>
        </p:nvSpPr>
        <p:spPr>
          <a:xfrm>
            <a:off x="1600200" y="3822120"/>
            <a:ext cx="27424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Refatoração sem nova feature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 29"/>
          <p:cNvSpPr/>
          <p:nvPr/>
        </p:nvSpPr>
        <p:spPr>
          <a:xfrm>
            <a:off x="365760" y="4251960"/>
            <a:ext cx="39312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trike="noStrike" u="none">
                <a:solidFill>
                  <a:srgbClr val="7b9fc4"/>
                </a:solidFill>
                <a:effectLst/>
                <a:uFillTx/>
                <a:latin typeface="Courier New"/>
                <a:ea typeface="Courier New"/>
              </a:rPr>
              <a:t>refactor: extrai função</a:t>
            </a:r>
            <a:endParaRPr b="0" lang="pt-BR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8" name="Shape 30"/>
          <p:cNvSpPr/>
          <p:nvPr/>
        </p:nvSpPr>
        <p:spPr>
          <a:xfrm>
            <a:off x="4663440" y="3749040"/>
            <a:ext cx="4205520" cy="1005120"/>
          </a:xfrm>
          <a:prstGeom prst="rect">
            <a:avLst/>
          </a:prstGeom>
          <a:solidFill>
            <a:srgbClr val="162b50"/>
          </a:solidFill>
          <a:ln w="12700">
            <a:solidFill>
              <a:srgbClr val="2a4a7f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9" name="Shape 31"/>
          <p:cNvSpPr/>
          <p:nvPr/>
        </p:nvSpPr>
        <p:spPr>
          <a:xfrm>
            <a:off x="4663440" y="3749040"/>
            <a:ext cx="45000" cy="1005120"/>
          </a:xfrm>
          <a:prstGeom prst="rect">
            <a:avLst/>
          </a:prstGeom>
          <a:solidFill>
            <a:srgbClr val="7b9fc4"/>
          </a:solidFill>
          <a:ln w="12700">
            <a:solidFill>
              <a:srgbClr val="7b9fc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 32"/>
          <p:cNvSpPr/>
          <p:nvPr/>
        </p:nvSpPr>
        <p:spPr>
          <a:xfrm>
            <a:off x="4800600" y="3822120"/>
            <a:ext cx="118800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7b9fc4"/>
                </a:solidFill>
                <a:effectLst/>
                <a:uFillTx/>
                <a:latin typeface="Courier New"/>
                <a:ea typeface="Courier New"/>
              </a:rPr>
              <a:t>chore: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 33"/>
          <p:cNvSpPr/>
          <p:nvPr/>
        </p:nvSpPr>
        <p:spPr>
          <a:xfrm>
            <a:off x="6035040" y="3822120"/>
            <a:ext cx="27424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Manutenção/tarefas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 34"/>
          <p:cNvSpPr/>
          <p:nvPr/>
        </p:nvSpPr>
        <p:spPr>
          <a:xfrm>
            <a:off x="4800600" y="4251960"/>
            <a:ext cx="39312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trike="noStrike" u="none">
                <a:solidFill>
                  <a:srgbClr val="7b9fc4"/>
                </a:solidFill>
                <a:effectLst/>
                <a:uFillTx/>
                <a:latin typeface="Courier New"/>
                <a:ea typeface="Courier New"/>
              </a:rPr>
              <a:t>chore: atualiza dependências</a:t>
            </a:r>
            <a:endParaRPr b="0" lang="pt-BR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 35"/>
          <p:cNvSpPr/>
          <p:nvPr/>
        </p:nvSpPr>
        <p:spPr>
          <a:xfrm>
            <a:off x="8412480" y="4754880"/>
            <a:ext cx="6393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7b9fc4"/>
                </a:solidFill>
                <a:effectLst/>
                <a:uFillTx/>
                <a:latin typeface="Calibri"/>
                <a:ea typeface="Calibri"/>
              </a:rPr>
              <a:t>8 / 18</a:t>
            </a:r>
            <a:endParaRPr b="0" lang="pt-BR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Shape 0"/>
          <p:cNvSpPr/>
          <p:nvPr/>
        </p:nvSpPr>
        <p:spPr>
          <a:xfrm>
            <a:off x="274320" y="164520"/>
            <a:ext cx="881640" cy="25524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 1"/>
          <p:cNvSpPr/>
          <p:nvPr/>
        </p:nvSpPr>
        <p:spPr>
          <a:xfrm>
            <a:off x="274320" y="173880"/>
            <a:ext cx="8816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VS CODE</a:t>
            </a:r>
            <a:endParaRPr b="0" lang="pt-B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 2"/>
          <p:cNvSpPr/>
          <p:nvPr/>
        </p:nvSpPr>
        <p:spPr>
          <a:xfrm>
            <a:off x="365760" y="502920"/>
            <a:ext cx="82288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0f1f3d"/>
                </a:solidFill>
                <a:effectLst/>
                <a:uFillTx/>
                <a:latin typeface="Trebuchet MS"/>
                <a:ea typeface="Trebuchet MS"/>
              </a:rPr>
              <a:t>Extensões essenciais (Sugestão)</a:t>
            </a:r>
            <a:endParaRPr b="0" lang="pt-B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Shape 3"/>
          <p:cNvSpPr/>
          <p:nvPr/>
        </p:nvSpPr>
        <p:spPr>
          <a:xfrm>
            <a:off x="274320" y="1188720"/>
            <a:ext cx="4205520" cy="1096560"/>
          </a:xfrm>
          <a:prstGeom prst="rect">
            <a:avLst/>
          </a:prstGeom>
          <a:solidFill>
            <a:srgbClr val="ebf0fa"/>
          </a:solidFill>
          <a:ln w="12700">
            <a:solidFill>
              <a:srgbClr val="2a4a7f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Shape 4"/>
          <p:cNvSpPr/>
          <p:nvPr/>
        </p:nvSpPr>
        <p:spPr>
          <a:xfrm>
            <a:off x="274320" y="1188720"/>
            <a:ext cx="45000" cy="1096560"/>
          </a:xfrm>
          <a:prstGeom prst="rect">
            <a:avLst/>
          </a:prstGeom>
          <a:solidFill>
            <a:srgbClr val="4b32c3"/>
          </a:solidFill>
          <a:ln w="12700">
            <a:solidFill>
              <a:srgbClr val="4b32c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9" name="Shape 5"/>
          <p:cNvSpPr/>
          <p:nvPr/>
        </p:nvSpPr>
        <p:spPr>
          <a:xfrm>
            <a:off x="438840" y="1536120"/>
            <a:ext cx="410760" cy="410760"/>
          </a:xfrm>
          <a:prstGeom prst="ellipse">
            <a:avLst/>
          </a:prstGeom>
          <a:solidFill>
            <a:srgbClr val="4b32c3"/>
          </a:solidFill>
          <a:ln w="12700">
            <a:solidFill>
              <a:srgbClr val="4b32c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 6"/>
          <p:cNvSpPr/>
          <p:nvPr/>
        </p:nvSpPr>
        <p:spPr>
          <a:xfrm>
            <a:off x="932760" y="1298520"/>
            <a:ext cx="33825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0f1f3d"/>
                </a:solidFill>
                <a:effectLst/>
                <a:uFillTx/>
                <a:latin typeface="Trebuchet MS"/>
                <a:ea typeface="Trebuchet MS"/>
              </a:rPr>
              <a:t>ESLint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 7"/>
          <p:cNvSpPr/>
          <p:nvPr/>
        </p:nvSpPr>
        <p:spPr>
          <a:xfrm>
            <a:off x="932760" y="1719000"/>
            <a:ext cx="338256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445566"/>
                </a:solidFill>
                <a:effectLst/>
                <a:uFillTx/>
                <a:latin typeface="Calibri"/>
                <a:ea typeface="Calibri"/>
              </a:rPr>
              <a:t>Detecta erros no código em tempo real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Shape 8"/>
          <p:cNvSpPr/>
          <p:nvPr/>
        </p:nvSpPr>
        <p:spPr>
          <a:xfrm>
            <a:off x="4709160" y="1188720"/>
            <a:ext cx="4205520" cy="1096560"/>
          </a:xfrm>
          <a:prstGeom prst="rect">
            <a:avLst/>
          </a:prstGeom>
          <a:solidFill>
            <a:srgbClr val="ebf0fa"/>
          </a:solidFill>
          <a:ln w="12700">
            <a:solidFill>
              <a:srgbClr val="2a4a7f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Shape 9"/>
          <p:cNvSpPr/>
          <p:nvPr/>
        </p:nvSpPr>
        <p:spPr>
          <a:xfrm>
            <a:off x="4709160" y="1188720"/>
            <a:ext cx="45000" cy="1096560"/>
          </a:xfrm>
          <a:prstGeom prst="rect">
            <a:avLst/>
          </a:prstGeom>
          <a:solidFill>
            <a:srgbClr val="1a2b34"/>
          </a:solidFill>
          <a:ln w="12700">
            <a:solidFill>
              <a:srgbClr val="1a2b3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4" name="Shape 10"/>
          <p:cNvSpPr/>
          <p:nvPr/>
        </p:nvSpPr>
        <p:spPr>
          <a:xfrm>
            <a:off x="4873680" y="1536120"/>
            <a:ext cx="410760" cy="410760"/>
          </a:xfrm>
          <a:prstGeom prst="ellipse">
            <a:avLst/>
          </a:prstGeom>
          <a:solidFill>
            <a:srgbClr val="1a2b34"/>
          </a:solidFill>
          <a:ln w="12700">
            <a:solidFill>
              <a:srgbClr val="1a2b3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 11"/>
          <p:cNvSpPr/>
          <p:nvPr/>
        </p:nvSpPr>
        <p:spPr>
          <a:xfrm>
            <a:off x="5367600" y="1298520"/>
            <a:ext cx="33825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0f1f3d"/>
                </a:solidFill>
                <a:effectLst/>
                <a:uFillTx/>
                <a:latin typeface="Trebuchet MS"/>
                <a:ea typeface="Trebuchet MS"/>
              </a:rPr>
              <a:t>Prettier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 12"/>
          <p:cNvSpPr/>
          <p:nvPr/>
        </p:nvSpPr>
        <p:spPr>
          <a:xfrm>
            <a:off x="5367600" y="1719000"/>
            <a:ext cx="338256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445566"/>
                </a:solidFill>
                <a:effectLst/>
                <a:uFillTx/>
                <a:latin typeface="Calibri"/>
                <a:ea typeface="Calibri"/>
              </a:rPr>
              <a:t>Formata automaticamente ao salvar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Shape 13"/>
          <p:cNvSpPr/>
          <p:nvPr/>
        </p:nvSpPr>
        <p:spPr>
          <a:xfrm>
            <a:off x="274320" y="2423160"/>
            <a:ext cx="4205520" cy="1096560"/>
          </a:xfrm>
          <a:prstGeom prst="rect">
            <a:avLst/>
          </a:prstGeom>
          <a:solidFill>
            <a:srgbClr val="ebf0fa"/>
          </a:solidFill>
          <a:ln w="12700">
            <a:solidFill>
              <a:srgbClr val="2a4a7f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Shape 14"/>
          <p:cNvSpPr/>
          <p:nvPr/>
        </p:nvSpPr>
        <p:spPr>
          <a:xfrm>
            <a:off x="274320" y="2423160"/>
            <a:ext cx="45000" cy="10965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9" name="Shape 15"/>
          <p:cNvSpPr/>
          <p:nvPr/>
        </p:nvSpPr>
        <p:spPr>
          <a:xfrm>
            <a:off x="438840" y="2770560"/>
            <a:ext cx="410760" cy="41076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0" name="Text 16"/>
          <p:cNvSpPr/>
          <p:nvPr/>
        </p:nvSpPr>
        <p:spPr>
          <a:xfrm>
            <a:off x="932760" y="2532960"/>
            <a:ext cx="33825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0f1f3d"/>
                </a:solidFill>
                <a:effectLst/>
                <a:uFillTx/>
                <a:latin typeface="Trebuchet MS"/>
                <a:ea typeface="Trebuchet MS"/>
              </a:rPr>
              <a:t>GitLens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Text 17"/>
          <p:cNvSpPr/>
          <p:nvPr/>
        </p:nvSpPr>
        <p:spPr>
          <a:xfrm>
            <a:off x="932760" y="2953440"/>
            <a:ext cx="338256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445566"/>
                </a:solidFill>
                <a:effectLst/>
                <a:uFillTx/>
                <a:latin typeface="Calibri"/>
                <a:ea typeface="Calibri"/>
              </a:rPr>
              <a:t>Histórico e autoria linha por linha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Shape 18"/>
          <p:cNvSpPr/>
          <p:nvPr/>
        </p:nvSpPr>
        <p:spPr>
          <a:xfrm>
            <a:off x="4709160" y="2423160"/>
            <a:ext cx="4205520" cy="1096560"/>
          </a:xfrm>
          <a:prstGeom prst="rect">
            <a:avLst/>
          </a:prstGeom>
          <a:solidFill>
            <a:srgbClr val="ebf0fa"/>
          </a:solidFill>
          <a:ln w="12700">
            <a:solidFill>
              <a:srgbClr val="2a4a7f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Shape 19"/>
          <p:cNvSpPr/>
          <p:nvPr/>
        </p:nvSpPr>
        <p:spPr>
          <a:xfrm>
            <a:off x="4709160" y="2423160"/>
            <a:ext cx="45000" cy="109656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4" name="Shape 20"/>
          <p:cNvSpPr/>
          <p:nvPr/>
        </p:nvSpPr>
        <p:spPr>
          <a:xfrm>
            <a:off x="4873680" y="2770560"/>
            <a:ext cx="410760" cy="410760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5" name="Text 21"/>
          <p:cNvSpPr/>
          <p:nvPr/>
        </p:nvSpPr>
        <p:spPr>
          <a:xfrm>
            <a:off x="5367600" y="2532960"/>
            <a:ext cx="33825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0f1f3d"/>
                </a:solidFill>
                <a:effectLst/>
                <a:uFillTx/>
                <a:latin typeface="Trebuchet MS"/>
                <a:ea typeface="Trebuchet MS"/>
              </a:rPr>
              <a:t>Error Lens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 22"/>
          <p:cNvSpPr/>
          <p:nvPr/>
        </p:nvSpPr>
        <p:spPr>
          <a:xfrm>
            <a:off x="5367600" y="2953440"/>
            <a:ext cx="338256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445566"/>
                </a:solidFill>
                <a:effectLst/>
                <a:uFillTx/>
                <a:latin typeface="Calibri"/>
                <a:ea typeface="Calibri"/>
              </a:rPr>
              <a:t>Mensagens de erro inline, ao lado do código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Shape 23"/>
          <p:cNvSpPr/>
          <p:nvPr/>
        </p:nvSpPr>
        <p:spPr>
          <a:xfrm>
            <a:off x="274320" y="3657600"/>
            <a:ext cx="4205520" cy="1096560"/>
          </a:xfrm>
          <a:prstGeom prst="rect">
            <a:avLst/>
          </a:prstGeom>
          <a:solidFill>
            <a:srgbClr val="ebf0fa"/>
          </a:solidFill>
          <a:ln w="12700">
            <a:solidFill>
              <a:srgbClr val="2a4a7f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Shape 24"/>
          <p:cNvSpPr/>
          <p:nvPr/>
        </p:nvSpPr>
        <p:spPr>
          <a:xfrm>
            <a:off x="274320" y="3657600"/>
            <a:ext cx="45000" cy="109656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9" name="Shape 25"/>
          <p:cNvSpPr/>
          <p:nvPr/>
        </p:nvSpPr>
        <p:spPr>
          <a:xfrm>
            <a:off x="438840" y="4005000"/>
            <a:ext cx="410760" cy="41076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0" name="Text 26"/>
          <p:cNvSpPr/>
          <p:nvPr/>
        </p:nvSpPr>
        <p:spPr>
          <a:xfrm>
            <a:off x="932760" y="3767400"/>
            <a:ext cx="33825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0f1f3d"/>
                </a:solidFill>
                <a:effectLst/>
                <a:uFillTx/>
                <a:latin typeface="Trebuchet MS"/>
                <a:ea typeface="Trebuchet MS"/>
              </a:rPr>
              <a:t>Path Intellisense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Text 27"/>
          <p:cNvSpPr/>
          <p:nvPr/>
        </p:nvSpPr>
        <p:spPr>
          <a:xfrm>
            <a:off x="932760" y="4187880"/>
            <a:ext cx="338256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445566"/>
                </a:solidFill>
                <a:effectLst/>
                <a:uFillTx/>
                <a:latin typeface="Calibri"/>
                <a:ea typeface="Calibri"/>
              </a:rPr>
              <a:t>Autocompleta caminhos de import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Text 33"/>
          <p:cNvSpPr/>
          <p:nvPr/>
        </p:nvSpPr>
        <p:spPr>
          <a:xfrm>
            <a:off x="8412480" y="4754880"/>
            <a:ext cx="6393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9aaac0"/>
                </a:solidFill>
                <a:effectLst/>
                <a:uFillTx/>
                <a:latin typeface="Calibri"/>
                <a:ea typeface="Calibri"/>
              </a:rPr>
              <a:t>9 / 18</a:t>
            </a:r>
            <a:endParaRPr b="0" lang="pt-B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Shape 0"/>
          <p:cNvSpPr/>
          <p:nvPr/>
        </p:nvSpPr>
        <p:spPr>
          <a:xfrm>
            <a:off x="0" y="0"/>
            <a:ext cx="54000" cy="514296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4" name="Shape 1"/>
          <p:cNvSpPr/>
          <p:nvPr/>
        </p:nvSpPr>
        <p:spPr>
          <a:xfrm>
            <a:off x="274320" y="164520"/>
            <a:ext cx="881640" cy="25524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5" name="Text 2"/>
          <p:cNvSpPr/>
          <p:nvPr/>
        </p:nvSpPr>
        <p:spPr>
          <a:xfrm>
            <a:off x="274320" y="173880"/>
            <a:ext cx="8816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VS CODE</a:t>
            </a:r>
            <a:endParaRPr b="0" lang="pt-BR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6" name="Text 3"/>
          <p:cNvSpPr/>
          <p:nvPr/>
        </p:nvSpPr>
        <p:spPr>
          <a:xfrm>
            <a:off x="320040" y="457200"/>
            <a:ext cx="82288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Alguns atalhos usuais</a:t>
            </a:r>
            <a:endParaRPr b="0" lang="pt-BR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7" name="Shape 4"/>
          <p:cNvSpPr/>
          <p:nvPr/>
        </p:nvSpPr>
        <p:spPr>
          <a:xfrm>
            <a:off x="228600" y="1188720"/>
            <a:ext cx="8686080" cy="447480"/>
          </a:xfrm>
          <a:prstGeom prst="rect">
            <a:avLst/>
          </a:prstGeom>
          <a:solidFill>
            <a:srgbClr val="162b50"/>
          </a:solidFill>
          <a:ln w="12700">
            <a:solidFill>
              <a:srgbClr val="2a4a7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8" name="Shape 5"/>
          <p:cNvSpPr/>
          <p:nvPr/>
        </p:nvSpPr>
        <p:spPr>
          <a:xfrm>
            <a:off x="320040" y="1252800"/>
            <a:ext cx="2285280" cy="319320"/>
          </a:xfrm>
          <a:prstGeom prst="rect">
            <a:avLst/>
          </a:prstGeom>
          <a:solidFill>
            <a:srgbClr val="1b3a6b"/>
          </a:solidFill>
          <a:ln w="12700">
            <a:solidFill>
              <a:srgbClr val="2a4a7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9" name="Text 6"/>
          <p:cNvSpPr/>
          <p:nvPr/>
        </p:nvSpPr>
        <p:spPr>
          <a:xfrm>
            <a:off x="320040" y="1252800"/>
            <a:ext cx="22852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e87722"/>
                </a:solidFill>
                <a:effectLst/>
                <a:uFillTx/>
                <a:latin typeface="Courier New"/>
                <a:ea typeface="Courier New"/>
              </a:rPr>
              <a:t>Ctrl + P</a:t>
            </a:r>
            <a:endParaRPr b="0" lang="pt-BR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0" name="Text 7"/>
          <p:cNvSpPr/>
          <p:nvPr/>
        </p:nvSpPr>
        <p:spPr>
          <a:xfrm>
            <a:off x="2697480" y="1252800"/>
            <a:ext cx="61257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Abrir qualquer arquivo pelo nome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1" name="Shape 8"/>
          <p:cNvSpPr/>
          <p:nvPr/>
        </p:nvSpPr>
        <p:spPr>
          <a:xfrm>
            <a:off x="228600" y="1664280"/>
            <a:ext cx="8686080" cy="447480"/>
          </a:xfrm>
          <a:prstGeom prst="rect">
            <a:avLst/>
          </a:prstGeom>
          <a:solidFill>
            <a:srgbClr val="0d1b2a"/>
          </a:solidFill>
          <a:ln w="12700">
            <a:solidFill>
              <a:srgbClr val="2a4a7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2" name="Shape 9"/>
          <p:cNvSpPr/>
          <p:nvPr/>
        </p:nvSpPr>
        <p:spPr>
          <a:xfrm>
            <a:off x="320040" y="1728360"/>
            <a:ext cx="2285280" cy="319320"/>
          </a:xfrm>
          <a:prstGeom prst="rect">
            <a:avLst/>
          </a:prstGeom>
          <a:solidFill>
            <a:srgbClr val="1b3a6b"/>
          </a:solidFill>
          <a:ln w="12700">
            <a:solidFill>
              <a:srgbClr val="2a4a7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3" name="Text 10"/>
          <p:cNvSpPr/>
          <p:nvPr/>
        </p:nvSpPr>
        <p:spPr>
          <a:xfrm>
            <a:off x="320040" y="1728360"/>
            <a:ext cx="22852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e87722"/>
                </a:solidFill>
                <a:effectLst/>
                <a:uFillTx/>
                <a:latin typeface="Courier New"/>
                <a:ea typeface="Courier New"/>
              </a:rPr>
              <a:t>Ctrl + Shift + P</a:t>
            </a:r>
            <a:endParaRPr b="0" lang="pt-BR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4" name="Text 11"/>
          <p:cNvSpPr/>
          <p:nvPr/>
        </p:nvSpPr>
        <p:spPr>
          <a:xfrm>
            <a:off x="2697480" y="1728360"/>
            <a:ext cx="61257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Paleta de comandos — acesso a tudo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5" name="Shape 12"/>
          <p:cNvSpPr/>
          <p:nvPr/>
        </p:nvSpPr>
        <p:spPr>
          <a:xfrm>
            <a:off x="228600" y="2139840"/>
            <a:ext cx="8686080" cy="447480"/>
          </a:xfrm>
          <a:prstGeom prst="rect">
            <a:avLst/>
          </a:prstGeom>
          <a:solidFill>
            <a:srgbClr val="162b50"/>
          </a:solidFill>
          <a:ln w="12700">
            <a:solidFill>
              <a:srgbClr val="2a4a7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6" name="Shape 13"/>
          <p:cNvSpPr/>
          <p:nvPr/>
        </p:nvSpPr>
        <p:spPr>
          <a:xfrm>
            <a:off x="320040" y="2203560"/>
            <a:ext cx="2285280" cy="319320"/>
          </a:xfrm>
          <a:prstGeom prst="rect">
            <a:avLst/>
          </a:prstGeom>
          <a:solidFill>
            <a:srgbClr val="1b3a6b"/>
          </a:solidFill>
          <a:ln w="12700">
            <a:solidFill>
              <a:srgbClr val="2a4a7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7" name="Text 14"/>
          <p:cNvSpPr/>
          <p:nvPr/>
        </p:nvSpPr>
        <p:spPr>
          <a:xfrm>
            <a:off x="320040" y="2203560"/>
            <a:ext cx="22852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e87722"/>
                </a:solidFill>
                <a:effectLst/>
                <a:uFillTx/>
                <a:latin typeface="Courier New"/>
                <a:ea typeface="Courier New"/>
              </a:rPr>
              <a:t>Alt + Click</a:t>
            </a:r>
            <a:endParaRPr b="0" lang="pt-BR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8" name="Text 15"/>
          <p:cNvSpPr/>
          <p:nvPr/>
        </p:nvSpPr>
        <p:spPr>
          <a:xfrm>
            <a:off x="2697480" y="2203560"/>
            <a:ext cx="61257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Multi-cursor: editar vários pontos ao mesmo tempo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9" name="Shape 16"/>
          <p:cNvSpPr/>
          <p:nvPr/>
        </p:nvSpPr>
        <p:spPr>
          <a:xfrm>
            <a:off x="228600" y="2615040"/>
            <a:ext cx="8686080" cy="447480"/>
          </a:xfrm>
          <a:prstGeom prst="rect">
            <a:avLst/>
          </a:prstGeom>
          <a:solidFill>
            <a:srgbClr val="0d1b2a"/>
          </a:solidFill>
          <a:ln w="12700">
            <a:solidFill>
              <a:srgbClr val="2a4a7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0" name="Shape 17"/>
          <p:cNvSpPr/>
          <p:nvPr/>
        </p:nvSpPr>
        <p:spPr>
          <a:xfrm>
            <a:off x="320040" y="2679120"/>
            <a:ext cx="2285280" cy="319320"/>
          </a:xfrm>
          <a:prstGeom prst="rect">
            <a:avLst/>
          </a:prstGeom>
          <a:solidFill>
            <a:srgbClr val="1b3a6b"/>
          </a:solidFill>
          <a:ln w="12700">
            <a:solidFill>
              <a:srgbClr val="2a4a7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1" name="Text 18"/>
          <p:cNvSpPr/>
          <p:nvPr/>
        </p:nvSpPr>
        <p:spPr>
          <a:xfrm>
            <a:off x="320040" y="2679120"/>
            <a:ext cx="22852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e87722"/>
                </a:solidFill>
                <a:effectLst/>
                <a:uFillTx/>
                <a:latin typeface="Courier New"/>
                <a:ea typeface="Courier New"/>
              </a:rPr>
              <a:t>Alt + ↑ / ↓</a:t>
            </a:r>
            <a:endParaRPr b="0" lang="pt-BR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2" name="Text 19"/>
          <p:cNvSpPr/>
          <p:nvPr/>
        </p:nvSpPr>
        <p:spPr>
          <a:xfrm>
            <a:off x="2697480" y="2679120"/>
            <a:ext cx="61257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Mover linha para cima ou para baixo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3" name="Shape 20"/>
          <p:cNvSpPr/>
          <p:nvPr/>
        </p:nvSpPr>
        <p:spPr>
          <a:xfrm>
            <a:off x="228600" y="3090600"/>
            <a:ext cx="8686080" cy="447480"/>
          </a:xfrm>
          <a:prstGeom prst="rect">
            <a:avLst/>
          </a:prstGeom>
          <a:solidFill>
            <a:srgbClr val="162b50"/>
          </a:solidFill>
          <a:ln w="12700">
            <a:solidFill>
              <a:srgbClr val="2a4a7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4" name="Shape 21"/>
          <p:cNvSpPr/>
          <p:nvPr/>
        </p:nvSpPr>
        <p:spPr>
          <a:xfrm>
            <a:off x="320040" y="3154680"/>
            <a:ext cx="2285280" cy="319320"/>
          </a:xfrm>
          <a:prstGeom prst="rect">
            <a:avLst/>
          </a:prstGeom>
          <a:solidFill>
            <a:srgbClr val="1b3a6b"/>
          </a:solidFill>
          <a:ln w="12700">
            <a:solidFill>
              <a:srgbClr val="2a4a7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5" name="Text 22"/>
          <p:cNvSpPr/>
          <p:nvPr/>
        </p:nvSpPr>
        <p:spPr>
          <a:xfrm>
            <a:off x="320040" y="3154680"/>
            <a:ext cx="22852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e87722"/>
                </a:solidFill>
                <a:effectLst/>
                <a:uFillTx/>
                <a:latin typeface="Courier New"/>
                <a:ea typeface="Courier New"/>
              </a:rPr>
              <a:t>Ctrl + D</a:t>
            </a:r>
            <a:endParaRPr b="0" lang="pt-BR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6" name="Text 23"/>
          <p:cNvSpPr/>
          <p:nvPr/>
        </p:nvSpPr>
        <p:spPr>
          <a:xfrm>
            <a:off x="2697480" y="3154680"/>
            <a:ext cx="61257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Selecionar a próxima ocorrência do mesmo texto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7" name="Shape 24"/>
          <p:cNvSpPr/>
          <p:nvPr/>
        </p:nvSpPr>
        <p:spPr>
          <a:xfrm>
            <a:off x="228600" y="3566160"/>
            <a:ext cx="8686080" cy="447480"/>
          </a:xfrm>
          <a:prstGeom prst="rect">
            <a:avLst/>
          </a:prstGeom>
          <a:solidFill>
            <a:srgbClr val="0d1b2a"/>
          </a:solidFill>
          <a:ln w="12700">
            <a:solidFill>
              <a:srgbClr val="2a4a7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8" name="Shape 25"/>
          <p:cNvSpPr/>
          <p:nvPr/>
        </p:nvSpPr>
        <p:spPr>
          <a:xfrm>
            <a:off x="320040" y="3630240"/>
            <a:ext cx="2285280" cy="319320"/>
          </a:xfrm>
          <a:prstGeom prst="rect">
            <a:avLst/>
          </a:prstGeom>
          <a:solidFill>
            <a:srgbClr val="1b3a6b"/>
          </a:solidFill>
          <a:ln w="12700">
            <a:solidFill>
              <a:srgbClr val="2a4a7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9" name="Text 26"/>
          <p:cNvSpPr/>
          <p:nvPr/>
        </p:nvSpPr>
        <p:spPr>
          <a:xfrm>
            <a:off x="320040" y="3630240"/>
            <a:ext cx="22852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e87722"/>
                </a:solidFill>
                <a:effectLst/>
                <a:uFillTx/>
                <a:latin typeface="Courier New"/>
                <a:ea typeface="Courier New"/>
              </a:rPr>
              <a:t>F2</a:t>
            </a:r>
            <a:endParaRPr b="0" lang="pt-BR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0" name="Text 27"/>
          <p:cNvSpPr/>
          <p:nvPr/>
        </p:nvSpPr>
        <p:spPr>
          <a:xfrm>
            <a:off x="2697480" y="3630240"/>
            <a:ext cx="61257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Renomear símbolo em todo o projeto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1" name="Shape 28"/>
          <p:cNvSpPr/>
          <p:nvPr/>
        </p:nvSpPr>
        <p:spPr>
          <a:xfrm>
            <a:off x="228600" y="4041720"/>
            <a:ext cx="8686080" cy="447480"/>
          </a:xfrm>
          <a:prstGeom prst="rect">
            <a:avLst/>
          </a:prstGeom>
          <a:solidFill>
            <a:srgbClr val="162b50"/>
          </a:solidFill>
          <a:ln w="12700">
            <a:solidFill>
              <a:srgbClr val="2a4a7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2" name="Shape 29"/>
          <p:cNvSpPr/>
          <p:nvPr/>
        </p:nvSpPr>
        <p:spPr>
          <a:xfrm>
            <a:off x="320040" y="4105800"/>
            <a:ext cx="2285280" cy="319320"/>
          </a:xfrm>
          <a:prstGeom prst="rect">
            <a:avLst/>
          </a:prstGeom>
          <a:solidFill>
            <a:srgbClr val="1b3a6b"/>
          </a:solidFill>
          <a:ln w="12700">
            <a:solidFill>
              <a:srgbClr val="2a4a7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3" name="Text 30"/>
          <p:cNvSpPr/>
          <p:nvPr/>
        </p:nvSpPr>
        <p:spPr>
          <a:xfrm>
            <a:off x="320040" y="4105800"/>
            <a:ext cx="22852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e87722"/>
                </a:solidFill>
                <a:effectLst/>
                <a:uFillTx/>
                <a:latin typeface="Courier New"/>
                <a:ea typeface="Courier New"/>
              </a:rPr>
              <a:t>F12</a:t>
            </a:r>
            <a:endParaRPr b="0" lang="pt-BR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4" name="Text 31"/>
          <p:cNvSpPr/>
          <p:nvPr/>
        </p:nvSpPr>
        <p:spPr>
          <a:xfrm>
            <a:off x="2697480" y="4105800"/>
            <a:ext cx="61257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Ir para a definição da função ou variável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5" name="Shape 32"/>
          <p:cNvSpPr/>
          <p:nvPr/>
        </p:nvSpPr>
        <p:spPr>
          <a:xfrm>
            <a:off x="228600" y="4517280"/>
            <a:ext cx="8686080" cy="447480"/>
          </a:xfrm>
          <a:prstGeom prst="rect">
            <a:avLst/>
          </a:prstGeom>
          <a:solidFill>
            <a:srgbClr val="0d1b2a"/>
          </a:solidFill>
          <a:ln w="12700">
            <a:solidFill>
              <a:srgbClr val="2a4a7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6" name="Shape 33"/>
          <p:cNvSpPr/>
          <p:nvPr/>
        </p:nvSpPr>
        <p:spPr>
          <a:xfrm>
            <a:off x="320040" y="4581000"/>
            <a:ext cx="2285280" cy="319320"/>
          </a:xfrm>
          <a:prstGeom prst="rect">
            <a:avLst/>
          </a:prstGeom>
          <a:solidFill>
            <a:srgbClr val="1b3a6b"/>
          </a:solidFill>
          <a:ln w="12700">
            <a:solidFill>
              <a:srgbClr val="2a4a7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7" name="Text 34"/>
          <p:cNvSpPr/>
          <p:nvPr/>
        </p:nvSpPr>
        <p:spPr>
          <a:xfrm>
            <a:off x="320040" y="4581000"/>
            <a:ext cx="22852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e87722"/>
                </a:solidFill>
                <a:effectLst/>
                <a:uFillTx/>
                <a:latin typeface="Courier New"/>
                <a:ea typeface="Courier New"/>
              </a:rPr>
              <a:t>Ctrl + `</a:t>
            </a:r>
            <a:endParaRPr b="0" lang="pt-BR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8" name="Text 35"/>
          <p:cNvSpPr/>
          <p:nvPr/>
        </p:nvSpPr>
        <p:spPr>
          <a:xfrm>
            <a:off x="2697480" y="4581000"/>
            <a:ext cx="61257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Abrir / fechar o terminal integrado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9" name="Text 36"/>
          <p:cNvSpPr/>
          <p:nvPr/>
        </p:nvSpPr>
        <p:spPr>
          <a:xfrm>
            <a:off x="8412480" y="4754880"/>
            <a:ext cx="6393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7b9fc4"/>
                </a:solidFill>
                <a:effectLst/>
                <a:uFillTx/>
                <a:latin typeface="Calibri"/>
                <a:ea typeface="Calibri"/>
              </a:rPr>
              <a:t>10 / 18</a:t>
            </a:r>
            <a:endParaRPr b="0" lang="pt-BR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Shape 0"/>
          <p:cNvSpPr/>
          <p:nvPr/>
        </p:nvSpPr>
        <p:spPr>
          <a:xfrm>
            <a:off x="274320" y="164520"/>
            <a:ext cx="1750320" cy="25524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1" name="Text 1"/>
          <p:cNvSpPr/>
          <p:nvPr/>
        </p:nvSpPr>
        <p:spPr>
          <a:xfrm>
            <a:off x="274320" y="173880"/>
            <a:ext cx="17503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ESLINT &amp; PRETTIER</a:t>
            </a:r>
            <a:endParaRPr b="0" lang="pt-B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Text 2"/>
          <p:cNvSpPr/>
          <p:nvPr/>
        </p:nvSpPr>
        <p:spPr>
          <a:xfrm>
            <a:off x="365760" y="502920"/>
            <a:ext cx="82288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0f1f3d"/>
                </a:solidFill>
                <a:effectLst/>
                <a:uFillTx/>
                <a:latin typeface="Trebuchet MS"/>
                <a:ea typeface="Trebuchet MS"/>
              </a:rPr>
              <a:t>Linter ≠ Formatter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Shape 3"/>
          <p:cNvSpPr/>
          <p:nvPr/>
        </p:nvSpPr>
        <p:spPr>
          <a:xfrm>
            <a:off x="320040" y="1188720"/>
            <a:ext cx="4022640" cy="3474000"/>
          </a:xfrm>
          <a:prstGeom prst="rect">
            <a:avLst/>
          </a:prstGeom>
          <a:solidFill>
            <a:srgbClr val="0f1f3d"/>
          </a:solidFill>
          <a:ln w="12700">
            <a:solidFill>
              <a:srgbClr val="2a4a7f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4" name="Text 4"/>
          <p:cNvSpPr/>
          <p:nvPr/>
        </p:nvSpPr>
        <p:spPr>
          <a:xfrm>
            <a:off x="457200" y="1325880"/>
            <a:ext cx="36568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4b32c3"/>
                </a:solidFill>
                <a:effectLst/>
                <a:uFillTx/>
                <a:latin typeface="Trebuchet MS"/>
                <a:ea typeface="Trebuchet MS"/>
              </a:rPr>
              <a:t>ESLint</a:t>
            </a:r>
            <a:endParaRPr b="0" lang="pt-BR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Text 5"/>
          <p:cNvSpPr/>
          <p:nvPr/>
        </p:nvSpPr>
        <p:spPr>
          <a:xfrm>
            <a:off x="457200" y="1783080"/>
            <a:ext cx="36568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trike="noStrike" u="non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Analisa o código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Text 6"/>
          <p:cNvSpPr/>
          <p:nvPr/>
        </p:nvSpPr>
        <p:spPr>
          <a:xfrm>
            <a:off x="457200" y="2194560"/>
            <a:ext cx="365688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e74c3c"/>
                </a:solidFill>
                <a:effectLst/>
                <a:uFillTx/>
                <a:latin typeface="Calibri"/>
                <a:ea typeface="Calibri"/>
              </a:rPr>
              <a:t>✗  </a:t>
            </a:r>
            <a:r>
              <a:rPr b="0" lang="en-US" sz="1200" strike="noStrike" u="non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Variáveis declaradas mas não usadas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Text 7"/>
          <p:cNvSpPr/>
          <p:nvPr/>
        </p:nvSpPr>
        <p:spPr>
          <a:xfrm>
            <a:off x="457200" y="2633400"/>
            <a:ext cx="365688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e74c3c"/>
                </a:solidFill>
                <a:effectLst/>
                <a:uFillTx/>
                <a:latin typeface="Calibri"/>
                <a:ea typeface="Calibri"/>
              </a:rPr>
              <a:t>✗  </a:t>
            </a:r>
            <a:r>
              <a:rPr b="0" lang="en-US" sz="1200" strike="noStrike" u="non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Comparações == em vez de ===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Text 8"/>
          <p:cNvSpPr/>
          <p:nvPr/>
        </p:nvSpPr>
        <p:spPr>
          <a:xfrm>
            <a:off x="457200" y="3072240"/>
            <a:ext cx="365688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e74c3c"/>
                </a:solidFill>
                <a:effectLst/>
                <a:uFillTx/>
                <a:latin typeface="Calibri"/>
                <a:ea typeface="Calibri"/>
              </a:rPr>
              <a:t>✗  </a:t>
            </a:r>
            <a:r>
              <a:rPr b="0" lang="en-US" sz="1200" strike="noStrike" u="non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console.log esquecidos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Text 9"/>
          <p:cNvSpPr/>
          <p:nvPr/>
        </p:nvSpPr>
        <p:spPr>
          <a:xfrm>
            <a:off x="457200" y="3511440"/>
            <a:ext cx="365688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e74c3c"/>
                </a:solidFill>
                <a:effectLst/>
                <a:uFillTx/>
                <a:latin typeface="Calibri"/>
                <a:ea typeface="Calibri"/>
              </a:rPr>
              <a:t>✗  </a:t>
            </a:r>
            <a:r>
              <a:rPr b="0" lang="en-US" sz="1200" strike="noStrike" u="non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Uso de var em vez de const/let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Text 10"/>
          <p:cNvSpPr/>
          <p:nvPr/>
        </p:nvSpPr>
        <p:spPr>
          <a:xfrm>
            <a:off x="457200" y="3950280"/>
            <a:ext cx="365688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e74c3c"/>
                </a:solidFill>
                <a:effectLst/>
                <a:uFillTx/>
                <a:latin typeface="Calibri"/>
                <a:ea typeface="Calibri"/>
              </a:rPr>
              <a:t>✗  </a:t>
            </a:r>
            <a:r>
              <a:rPr b="0" lang="en-US" sz="1200" strike="noStrike" u="non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Return ausente em funções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Text 11"/>
          <p:cNvSpPr/>
          <p:nvPr/>
        </p:nvSpPr>
        <p:spPr>
          <a:xfrm>
            <a:off x="457200" y="4316040"/>
            <a:ext cx="3656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4b32c3"/>
                </a:solidFill>
                <a:effectLst/>
                <a:uFillTx/>
                <a:latin typeface="Calibri"/>
                <a:ea typeface="Calibri"/>
              </a:rPr>
              <a:t>Encontra PROBLEMAS de lógica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Shape 12"/>
          <p:cNvSpPr/>
          <p:nvPr/>
        </p:nvSpPr>
        <p:spPr>
          <a:xfrm>
            <a:off x="4709160" y="1188720"/>
            <a:ext cx="4114080" cy="3474000"/>
          </a:xfrm>
          <a:prstGeom prst="rect">
            <a:avLst/>
          </a:prstGeom>
          <a:solidFill>
            <a:srgbClr val="0f1f3d"/>
          </a:solidFill>
          <a:ln w="12700">
            <a:solidFill>
              <a:srgbClr val="2a4a7f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3" name="Text 13"/>
          <p:cNvSpPr/>
          <p:nvPr/>
        </p:nvSpPr>
        <p:spPr>
          <a:xfrm>
            <a:off x="4846320" y="1325880"/>
            <a:ext cx="36568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e87722"/>
                </a:solidFill>
                <a:effectLst/>
                <a:uFillTx/>
                <a:latin typeface="Trebuchet MS"/>
                <a:ea typeface="Trebuchet MS"/>
              </a:rPr>
              <a:t>Prettier</a:t>
            </a:r>
            <a:endParaRPr b="0" lang="pt-BR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Text 14"/>
          <p:cNvSpPr/>
          <p:nvPr/>
        </p:nvSpPr>
        <p:spPr>
          <a:xfrm>
            <a:off x="4846320" y="1783080"/>
            <a:ext cx="36568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trike="noStrike" u="non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Formata o código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Text 15"/>
          <p:cNvSpPr/>
          <p:nvPr/>
        </p:nvSpPr>
        <p:spPr>
          <a:xfrm>
            <a:off x="4846320" y="2194560"/>
            <a:ext cx="383976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ecc71"/>
                </a:solidFill>
                <a:effectLst/>
                <a:uFillTx/>
                <a:latin typeface="Calibri"/>
                <a:ea typeface="Calibri"/>
              </a:rPr>
              <a:t>✓  </a:t>
            </a:r>
            <a:r>
              <a:rPr b="0" lang="en-US" sz="1200" strike="noStrike" u="non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Aspas simples ou duplas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Text 16"/>
          <p:cNvSpPr/>
          <p:nvPr/>
        </p:nvSpPr>
        <p:spPr>
          <a:xfrm>
            <a:off x="4846320" y="2633400"/>
            <a:ext cx="383976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ecc71"/>
                </a:solidFill>
                <a:effectLst/>
                <a:uFillTx/>
                <a:latin typeface="Calibri"/>
                <a:ea typeface="Calibri"/>
              </a:rPr>
              <a:t>✓  </a:t>
            </a:r>
            <a:r>
              <a:rPr b="0" lang="en-US" sz="1200" strike="noStrike" u="non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Ponto e vírgula no fim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Text 17"/>
          <p:cNvSpPr/>
          <p:nvPr/>
        </p:nvSpPr>
        <p:spPr>
          <a:xfrm>
            <a:off x="4846320" y="3072240"/>
            <a:ext cx="383976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ecc71"/>
                </a:solidFill>
                <a:effectLst/>
                <a:uFillTx/>
                <a:latin typeface="Calibri"/>
                <a:ea typeface="Calibri"/>
              </a:rPr>
              <a:t>✓  </a:t>
            </a:r>
            <a:r>
              <a:rPr b="0" lang="en-US" sz="1200" strike="noStrike" u="non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Largura máxima da linha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Text 18"/>
          <p:cNvSpPr/>
          <p:nvPr/>
        </p:nvSpPr>
        <p:spPr>
          <a:xfrm>
            <a:off x="4846320" y="3511440"/>
            <a:ext cx="383976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ecc71"/>
                </a:solidFill>
                <a:effectLst/>
                <a:uFillTx/>
                <a:latin typeface="Calibri"/>
                <a:ea typeface="Calibri"/>
              </a:rPr>
              <a:t>✓  </a:t>
            </a:r>
            <a:r>
              <a:rPr b="0" lang="en-US" sz="1200" strike="noStrike" u="non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Indentação (tabs vs espaços)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Text 19"/>
          <p:cNvSpPr/>
          <p:nvPr/>
        </p:nvSpPr>
        <p:spPr>
          <a:xfrm>
            <a:off x="4846320" y="3950280"/>
            <a:ext cx="383976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ecc71"/>
                </a:solidFill>
                <a:effectLst/>
                <a:uFillTx/>
                <a:latin typeface="Calibri"/>
                <a:ea typeface="Calibri"/>
              </a:rPr>
              <a:t>✓  </a:t>
            </a:r>
            <a:r>
              <a:rPr b="0" lang="en-US" sz="1200" strike="noStrike" u="non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Trailing commas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Text 20"/>
          <p:cNvSpPr/>
          <p:nvPr/>
        </p:nvSpPr>
        <p:spPr>
          <a:xfrm>
            <a:off x="4846320" y="4316040"/>
            <a:ext cx="38397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e87722"/>
                </a:solidFill>
                <a:effectLst/>
                <a:uFillTx/>
                <a:latin typeface="Calibri"/>
                <a:ea typeface="Calibri"/>
              </a:rPr>
              <a:t>Define ESTÉTICA visual do código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Text 21"/>
          <p:cNvSpPr/>
          <p:nvPr/>
        </p:nvSpPr>
        <p:spPr>
          <a:xfrm>
            <a:off x="8412480" y="4754880"/>
            <a:ext cx="6393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9aaac0"/>
                </a:solidFill>
                <a:effectLst/>
                <a:uFillTx/>
                <a:latin typeface="Calibri"/>
                <a:ea typeface="Calibri"/>
              </a:rPr>
              <a:t>11 / 18</a:t>
            </a:r>
            <a:endParaRPr b="0" lang="pt-B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Shape 0"/>
          <p:cNvSpPr/>
          <p:nvPr/>
        </p:nvSpPr>
        <p:spPr>
          <a:xfrm>
            <a:off x="0" y="0"/>
            <a:ext cx="54000" cy="514296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3" name="Shape 1"/>
          <p:cNvSpPr/>
          <p:nvPr/>
        </p:nvSpPr>
        <p:spPr>
          <a:xfrm>
            <a:off x="274320" y="164520"/>
            <a:ext cx="1750320" cy="25524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4" name="Text 2"/>
          <p:cNvSpPr/>
          <p:nvPr/>
        </p:nvSpPr>
        <p:spPr>
          <a:xfrm>
            <a:off x="274320" y="173880"/>
            <a:ext cx="17503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ESLINT &amp; PRETTIER</a:t>
            </a:r>
            <a:endParaRPr b="0" lang="pt-BR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5" name="Text 3"/>
          <p:cNvSpPr/>
          <p:nvPr/>
        </p:nvSpPr>
        <p:spPr>
          <a:xfrm>
            <a:off x="320040" y="457200"/>
            <a:ext cx="82288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Configurando ESLint + Prettier</a:t>
            </a:r>
            <a:endParaRPr b="0" lang="pt-BR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6" name="Shape 4"/>
          <p:cNvSpPr/>
          <p:nvPr/>
        </p:nvSpPr>
        <p:spPr>
          <a:xfrm>
            <a:off x="228600" y="1097280"/>
            <a:ext cx="4296960" cy="1828080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7" name="Text 5"/>
          <p:cNvSpPr/>
          <p:nvPr/>
        </p:nvSpPr>
        <p:spPr>
          <a:xfrm>
            <a:off x="365760" y="1234440"/>
            <a:ext cx="4022640" cy="155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6bb5ff"/>
                </a:solidFill>
                <a:effectLst/>
                <a:uFillTx/>
                <a:latin typeface="Courier New"/>
                <a:ea typeface="Courier New"/>
              </a:rPr>
              <a:t># 1. Instalar o ESLint</a:t>
            </a:r>
            <a:endParaRPr b="0" lang="pt-BR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6bb5ff"/>
                </a:solidFill>
                <a:effectLst/>
                <a:uFillTx/>
                <a:latin typeface="Courier New"/>
                <a:ea typeface="Courier New"/>
              </a:rPr>
              <a:t>npm install --save-dev eslint</a:t>
            </a:r>
            <a:endParaRPr b="0" lang="pt-BR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pt-BR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6bb5ff"/>
                </a:solidFill>
                <a:effectLst/>
                <a:uFillTx/>
                <a:latin typeface="Courier New"/>
                <a:ea typeface="Courier New"/>
              </a:rPr>
              <a:t># 2. Instalar o Prettier e integração</a:t>
            </a:r>
            <a:endParaRPr b="0" lang="pt-BR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6bb5ff"/>
                </a:solidFill>
                <a:effectLst/>
                <a:uFillTx/>
                <a:latin typeface="Courier New"/>
                <a:ea typeface="Courier New"/>
              </a:rPr>
              <a:t>npm install --save-dev prettier eslint-config-prettier</a:t>
            </a:r>
            <a:endParaRPr b="0" lang="pt-BR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8" name="Shape 6"/>
          <p:cNvSpPr/>
          <p:nvPr/>
        </p:nvSpPr>
        <p:spPr>
          <a:xfrm>
            <a:off x="228600" y="3063240"/>
            <a:ext cx="4296960" cy="1919520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9" name="Text 7"/>
          <p:cNvSpPr/>
          <p:nvPr/>
        </p:nvSpPr>
        <p:spPr>
          <a:xfrm>
            <a:off x="365760" y="3200400"/>
            <a:ext cx="4022640" cy="164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6bb5ff"/>
                </a:solidFill>
                <a:effectLst/>
                <a:uFillTx/>
                <a:latin typeface="Courier New"/>
                <a:ea typeface="Courier New"/>
              </a:rPr>
              <a:t>// .eslintrc.json</a:t>
            </a:r>
            <a:endParaRPr b="0" lang="pt-BR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6bb5ff"/>
                </a:solidFill>
                <a:effectLst/>
                <a:uFillTx/>
                <a:latin typeface="Courier New"/>
                <a:ea typeface="Courier New"/>
              </a:rPr>
              <a:t>{</a:t>
            </a:r>
            <a:endParaRPr b="0" lang="pt-BR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6bb5ff"/>
                </a:solidFill>
                <a:effectLst/>
                <a:uFillTx/>
                <a:latin typeface="Courier New"/>
                <a:ea typeface="Courier New"/>
              </a:rPr>
              <a:t>  "extends": ["eslint:recommended","prettier"],</a:t>
            </a:r>
            <a:endParaRPr b="0" lang="pt-BR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6bb5ff"/>
                </a:solidFill>
                <a:effectLst/>
                <a:uFillTx/>
                <a:latin typeface="Courier New"/>
                <a:ea typeface="Courier New"/>
              </a:rPr>
              <a:t>  "rules": {</a:t>
            </a:r>
            <a:endParaRPr b="0" lang="pt-BR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6bb5ff"/>
                </a:solidFill>
                <a:effectLst/>
                <a:uFillTx/>
                <a:latin typeface="Courier New"/>
                <a:ea typeface="Courier New"/>
              </a:rPr>
              <a:t>    "no-unused-vars": "error",</a:t>
            </a:r>
            <a:endParaRPr b="0" lang="pt-BR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6bb5ff"/>
                </a:solidFill>
                <a:effectLst/>
                <a:uFillTx/>
                <a:latin typeface="Courier New"/>
                <a:ea typeface="Courier New"/>
              </a:rPr>
              <a:t>    "prefer-const":   "error"</a:t>
            </a:r>
            <a:endParaRPr b="0" lang="pt-BR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6bb5ff"/>
                </a:solidFill>
                <a:effectLst/>
                <a:uFillTx/>
                <a:latin typeface="Courier New"/>
                <a:ea typeface="Courier New"/>
              </a:rPr>
              <a:t>  }</a:t>
            </a:r>
            <a:endParaRPr b="0" lang="pt-BR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6bb5ff"/>
                </a:solidFill>
                <a:effectLst/>
                <a:uFillTx/>
                <a:latin typeface="Courier New"/>
                <a:ea typeface="Courier New"/>
              </a:rPr>
              <a:t>}</a:t>
            </a:r>
            <a:endParaRPr b="0" lang="pt-BR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0" name="Shape 8"/>
          <p:cNvSpPr/>
          <p:nvPr/>
        </p:nvSpPr>
        <p:spPr>
          <a:xfrm>
            <a:off x="4663440" y="1097280"/>
            <a:ext cx="4205520" cy="1828080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1" name="Text 9"/>
          <p:cNvSpPr/>
          <p:nvPr/>
        </p:nvSpPr>
        <p:spPr>
          <a:xfrm>
            <a:off x="4800600" y="1234440"/>
            <a:ext cx="3931200" cy="155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6bb5ff"/>
                </a:solidFill>
                <a:effectLst/>
                <a:uFillTx/>
                <a:latin typeface="Courier New"/>
                <a:ea typeface="Courier New"/>
              </a:rPr>
              <a:t>// .vscode/settings.json</a:t>
            </a:r>
            <a:endParaRPr b="0" lang="pt-BR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6bb5ff"/>
                </a:solidFill>
                <a:effectLst/>
                <a:uFillTx/>
                <a:latin typeface="Courier New"/>
                <a:ea typeface="Courier New"/>
              </a:rPr>
              <a:t>{</a:t>
            </a:r>
            <a:endParaRPr b="0" lang="pt-BR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6bb5ff"/>
                </a:solidFill>
                <a:effectLst/>
                <a:uFillTx/>
                <a:latin typeface="Courier New"/>
                <a:ea typeface="Courier New"/>
              </a:rPr>
              <a:t>  "editor.formatOnSave": true,</a:t>
            </a:r>
            <a:endParaRPr b="0" lang="pt-BR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6bb5ff"/>
                </a:solidFill>
                <a:effectLst/>
                <a:uFillTx/>
                <a:latin typeface="Courier New"/>
                <a:ea typeface="Courier New"/>
              </a:rPr>
              <a:t>  "editor.defaultFormatter":</a:t>
            </a:r>
            <a:endParaRPr b="0" lang="pt-BR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6bb5ff"/>
                </a:solidFill>
                <a:effectLst/>
                <a:uFillTx/>
                <a:latin typeface="Courier New"/>
                <a:ea typeface="Courier New"/>
              </a:rPr>
              <a:t>    "esbenp.prettier-vscode"</a:t>
            </a:r>
            <a:endParaRPr b="0" lang="pt-BR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6bb5ff"/>
                </a:solidFill>
                <a:effectLst/>
                <a:uFillTx/>
                <a:latin typeface="Courier New"/>
                <a:ea typeface="Courier New"/>
              </a:rPr>
              <a:t>}</a:t>
            </a:r>
            <a:endParaRPr b="0" lang="pt-BR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2" name="Shape 10"/>
          <p:cNvSpPr/>
          <p:nvPr/>
        </p:nvSpPr>
        <p:spPr>
          <a:xfrm>
            <a:off x="4663440" y="3063240"/>
            <a:ext cx="4205520" cy="1919520"/>
          </a:xfrm>
          <a:prstGeom prst="rect">
            <a:avLst/>
          </a:prstGeom>
          <a:solidFill>
            <a:srgbClr val="162b50"/>
          </a:solidFill>
          <a:ln w="12700">
            <a:solidFill>
              <a:srgbClr val="2a4a7f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3" name="Shape 11"/>
          <p:cNvSpPr/>
          <p:nvPr/>
        </p:nvSpPr>
        <p:spPr>
          <a:xfrm>
            <a:off x="4663440" y="3063240"/>
            <a:ext cx="45000" cy="191952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4" name="Text 12"/>
          <p:cNvSpPr/>
          <p:nvPr/>
        </p:nvSpPr>
        <p:spPr>
          <a:xfrm>
            <a:off x="4800600" y="3154680"/>
            <a:ext cx="393120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2ecc71"/>
                </a:solidFill>
                <a:effectLst/>
                <a:uFillTx/>
                <a:latin typeface="Trebuchet MS"/>
                <a:ea typeface="Trebuchet MS"/>
              </a:rPr>
              <a:t>Husky + lint-staged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5" name="Text 13"/>
          <p:cNvSpPr/>
          <p:nvPr/>
        </p:nvSpPr>
        <p:spPr>
          <a:xfrm>
            <a:off x="4800600" y="3547800"/>
            <a:ext cx="3931200" cy="11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Executa ESLint + Prettier automaticamente antes de cada commit — código com erro não entra no repositório.</a:t>
            </a:r>
            <a:endParaRPr b="0" lang="pt-BR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6" name="Text 14"/>
          <p:cNvSpPr/>
          <p:nvPr/>
        </p:nvSpPr>
        <p:spPr>
          <a:xfrm>
            <a:off x="8412480" y="4754880"/>
            <a:ext cx="6393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7b9fc4"/>
                </a:solidFill>
                <a:effectLst/>
                <a:uFillTx/>
                <a:latin typeface="Calibri"/>
                <a:ea typeface="Calibri"/>
              </a:rPr>
              <a:t>12 / 18</a:t>
            </a:r>
            <a:endParaRPr b="0" lang="pt-BR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Shape 0"/>
          <p:cNvSpPr/>
          <p:nvPr/>
        </p:nvSpPr>
        <p:spPr>
          <a:xfrm>
            <a:off x="274320" y="164520"/>
            <a:ext cx="881640" cy="25524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8" name="Text 1"/>
          <p:cNvSpPr/>
          <p:nvPr/>
        </p:nvSpPr>
        <p:spPr>
          <a:xfrm>
            <a:off x="274320" y="173880"/>
            <a:ext cx="8816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VITE.JS</a:t>
            </a:r>
            <a:endParaRPr b="0" lang="pt-B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Text 2"/>
          <p:cNvSpPr/>
          <p:nvPr/>
        </p:nvSpPr>
        <p:spPr>
          <a:xfrm>
            <a:off x="365760" y="502920"/>
            <a:ext cx="731448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0f1f3d"/>
                </a:solidFill>
                <a:effectLst/>
                <a:uFillTx/>
                <a:latin typeface="Trebuchet MS"/>
                <a:ea typeface="Trebuchet MS"/>
              </a:rPr>
              <a:t>Vite — Ferramenta de Build Moderna</a:t>
            </a:r>
            <a:endParaRPr b="0" lang="pt-B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Shape 3"/>
          <p:cNvSpPr/>
          <p:nvPr/>
        </p:nvSpPr>
        <p:spPr>
          <a:xfrm>
            <a:off x="320040" y="1188720"/>
            <a:ext cx="4114080" cy="1645200"/>
          </a:xfrm>
          <a:prstGeom prst="rect">
            <a:avLst/>
          </a:prstGeom>
          <a:solidFill>
            <a:srgbClr val="fdecea"/>
          </a:solidFill>
          <a:ln w="12700">
            <a:solidFill>
              <a:srgbClr val="2a4a7f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Text 4"/>
          <p:cNvSpPr/>
          <p:nvPr/>
        </p:nvSpPr>
        <p:spPr>
          <a:xfrm>
            <a:off x="457200" y="1280160"/>
            <a:ext cx="38397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c0392b"/>
                </a:solidFill>
                <a:effectLst/>
                <a:uFillTx/>
                <a:latin typeface="Trebuchet MS"/>
                <a:ea typeface="Trebuchet MS"/>
              </a:rPr>
              <a:t>O problema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Text 5"/>
          <p:cNvSpPr/>
          <p:nvPr/>
        </p:nvSpPr>
        <p:spPr>
          <a:xfrm>
            <a:off x="457200" y="1691640"/>
            <a:ext cx="3839760" cy="10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445566"/>
                </a:solidFill>
                <a:effectLst/>
                <a:uFillTx/>
                <a:latin typeface="Calibri"/>
                <a:ea typeface="Calibri"/>
              </a:rPr>
              <a:t>Ferramentas como Webpack processam e empacotam TODOS os módulos antes de iniciar o servidor — em projetos grandes, dezenas de segundos a cada reinicialização.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" name="Shape 6"/>
          <p:cNvSpPr/>
          <p:nvPr/>
        </p:nvSpPr>
        <p:spPr>
          <a:xfrm>
            <a:off x="4709160" y="1188720"/>
            <a:ext cx="4114080" cy="1645200"/>
          </a:xfrm>
          <a:prstGeom prst="rect">
            <a:avLst/>
          </a:prstGeom>
          <a:solidFill>
            <a:srgbClr val="e8f8f0"/>
          </a:solidFill>
          <a:ln w="12700">
            <a:solidFill>
              <a:srgbClr val="2a4a7f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Text 7"/>
          <p:cNvSpPr/>
          <p:nvPr/>
        </p:nvSpPr>
        <p:spPr>
          <a:xfrm>
            <a:off x="4846320" y="1280160"/>
            <a:ext cx="37483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1a7a4a"/>
                </a:solidFill>
                <a:effectLst/>
                <a:uFillTx/>
                <a:latin typeface="Trebuchet MS"/>
                <a:ea typeface="Trebuchet MS"/>
              </a:rPr>
              <a:t>A solução Vite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Text 8"/>
          <p:cNvSpPr/>
          <p:nvPr/>
        </p:nvSpPr>
        <p:spPr>
          <a:xfrm>
            <a:off x="4846320" y="1691640"/>
            <a:ext cx="3748320" cy="10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445566"/>
                </a:solidFill>
                <a:effectLst/>
                <a:uFillTx/>
                <a:latin typeface="Calibri"/>
                <a:ea typeface="Calibri"/>
              </a:rPr>
              <a:t>Serve o código como módulos ES nativos ao browser — sem bundle em desenvolvimento. HMR ultrarrápido independente do tamanho do projeto.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Shape 9"/>
          <p:cNvSpPr/>
          <p:nvPr/>
        </p:nvSpPr>
        <p:spPr>
          <a:xfrm>
            <a:off x="320040" y="3017520"/>
            <a:ext cx="2742480" cy="1736640"/>
          </a:xfrm>
          <a:prstGeom prst="rect">
            <a:avLst/>
          </a:prstGeom>
          <a:solidFill>
            <a:srgbClr val="0f1f3d"/>
          </a:solidFill>
          <a:ln w="12700">
            <a:solidFill>
              <a:srgbClr val="2a4a7f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7" name="Shape 10"/>
          <p:cNvSpPr/>
          <p:nvPr/>
        </p:nvSpPr>
        <p:spPr>
          <a:xfrm>
            <a:off x="320040" y="3017520"/>
            <a:ext cx="45000" cy="173664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8" name="Shape 11"/>
          <p:cNvSpPr/>
          <p:nvPr/>
        </p:nvSpPr>
        <p:spPr>
          <a:xfrm>
            <a:off x="1325880" y="2834640"/>
            <a:ext cx="730800" cy="36504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9" name="Text 12"/>
          <p:cNvSpPr/>
          <p:nvPr/>
        </p:nvSpPr>
        <p:spPr>
          <a:xfrm>
            <a:off x="1325880" y="2834640"/>
            <a:ext cx="7308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esbuild</a:t>
            </a:r>
            <a:endParaRPr b="0" lang="pt-B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Text 13"/>
          <p:cNvSpPr/>
          <p:nvPr/>
        </p:nvSpPr>
        <p:spPr>
          <a:xfrm>
            <a:off x="411480" y="3246120"/>
            <a:ext cx="255960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e87722"/>
                </a:solidFill>
                <a:effectLst/>
                <a:uFillTx/>
                <a:latin typeface="Trebuchet MS"/>
                <a:ea typeface="Trebuchet MS"/>
              </a:rPr>
              <a:t>esbuild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Text 14"/>
          <p:cNvSpPr/>
          <p:nvPr/>
        </p:nvSpPr>
        <p:spPr>
          <a:xfrm>
            <a:off x="411480" y="3749040"/>
            <a:ext cx="255960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7b9fc4"/>
                </a:solidFill>
                <a:effectLst/>
                <a:uFillTx/>
                <a:latin typeface="Calibri"/>
                <a:ea typeface="Calibri"/>
              </a:rPr>
              <a:t>Pré-bundling 10–100× mais rápido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2" name="Shape 15"/>
          <p:cNvSpPr/>
          <p:nvPr/>
        </p:nvSpPr>
        <p:spPr>
          <a:xfrm>
            <a:off x="3246120" y="3017520"/>
            <a:ext cx="2742480" cy="1736640"/>
          </a:xfrm>
          <a:prstGeom prst="rect">
            <a:avLst/>
          </a:prstGeom>
          <a:solidFill>
            <a:srgbClr val="0f1f3d"/>
          </a:solidFill>
          <a:ln w="12700">
            <a:solidFill>
              <a:srgbClr val="2a4a7f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3" name="Shape 16"/>
          <p:cNvSpPr/>
          <p:nvPr/>
        </p:nvSpPr>
        <p:spPr>
          <a:xfrm>
            <a:off x="3246120" y="3017520"/>
            <a:ext cx="45000" cy="1736640"/>
          </a:xfrm>
          <a:prstGeom prst="rect">
            <a:avLst/>
          </a:prstGeom>
          <a:solidFill>
            <a:srgbClr val="4b32c3"/>
          </a:solidFill>
          <a:ln w="12700">
            <a:solidFill>
              <a:srgbClr val="4b32c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4" name="Shape 17"/>
          <p:cNvSpPr/>
          <p:nvPr/>
        </p:nvSpPr>
        <p:spPr>
          <a:xfrm>
            <a:off x="4251960" y="2834640"/>
            <a:ext cx="730800" cy="365040"/>
          </a:xfrm>
          <a:prstGeom prst="rect">
            <a:avLst/>
          </a:prstGeom>
          <a:solidFill>
            <a:srgbClr val="4b32c3"/>
          </a:solidFill>
          <a:ln w="12700">
            <a:solidFill>
              <a:srgbClr val="4b32c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5" name="Text 18"/>
          <p:cNvSpPr/>
          <p:nvPr/>
        </p:nvSpPr>
        <p:spPr>
          <a:xfrm>
            <a:off x="4251960" y="2834640"/>
            <a:ext cx="7308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ESM nativo</a:t>
            </a:r>
            <a:endParaRPr b="0" lang="pt-B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6" name="Text 19"/>
          <p:cNvSpPr/>
          <p:nvPr/>
        </p:nvSpPr>
        <p:spPr>
          <a:xfrm>
            <a:off x="3337560" y="3246120"/>
            <a:ext cx="255960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4b32c3"/>
                </a:solidFill>
                <a:effectLst/>
                <a:uFillTx/>
                <a:latin typeface="Trebuchet MS"/>
                <a:ea typeface="Trebuchet MS"/>
              </a:rPr>
              <a:t>ESM nativo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Text 20"/>
          <p:cNvSpPr/>
          <p:nvPr/>
        </p:nvSpPr>
        <p:spPr>
          <a:xfrm>
            <a:off x="3337560" y="3749040"/>
            <a:ext cx="255960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7b9fc4"/>
                </a:solidFill>
                <a:effectLst/>
                <a:uFillTx/>
                <a:latin typeface="Calibri"/>
                <a:ea typeface="Calibri"/>
              </a:rPr>
              <a:t>Módulos carregados sob demanda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Shape 21"/>
          <p:cNvSpPr/>
          <p:nvPr/>
        </p:nvSpPr>
        <p:spPr>
          <a:xfrm>
            <a:off x="6172200" y="3017520"/>
            <a:ext cx="2742480" cy="1736640"/>
          </a:xfrm>
          <a:prstGeom prst="rect">
            <a:avLst/>
          </a:prstGeom>
          <a:solidFill>
            <a:srgbClr val="0f1f3d"/>
          </a:solidFill>
          <a:ln w="12700">
            <a:solidFill>
              <a:srgbClr val="2a4a7f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9" name="Shape 22"/>
          <p:cNvSpPr/>
          <p:nvPr/>
        </p:nvSpPr>
        <p:spPr>
          <a:xfrm>
            <a:off x="6172200" y="3017520"/>
            <a:ext cx="45000" cy="173664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0" name="Shape 23"/>
          <p:cNvSpPr/>
          <p:nvPr/>
        </p:nvSpPr>
        <p:spPr>
          <a:xfrm>
            <a:off x="7178040" y="2834640"/>
            <a:ext cx="730800" cy="36504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1" name="Text 24"/>
          <p:cNvSpPr/>
          <p:nvPr/>
        </p:nvSpPr>
        <p:spPr>
          <a:xfrm>
            <a:off x="7178040" y="2834640"/>
            <a:ext cx="7308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HMR</a:t>
            </a:r>
            <a:endParaRPr b="0" lang="pt-B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2" name="Text 25"/>
          <p:cNvSpPr/>
          <p:nvPr/>
        </p:nvSpPr>
        <p:spPr>
          <a:xfrm>
            <a:off x="6263640" y="3246120"/>
            <a:ext cx="255960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1a7a4a"/>
                </a:solidFill>
                <a:effectLst/>
                <a:uFillTx/>
                <a:latin typeface="Trebuchet MS"/>
                <a:ea typeface="Trebuchet MS"/>
              </a:rPr>
              <a:t>HMR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3" name="Text 26"/>
          <p:cNvSpPr/>
          <p:nvPr/>
        </p:nvSpPr>
        <p:spPr>
          <a:xfrm>
            <a:off x="6263640" y="3749040"/>
            <a:ext cx="255960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7b9fc4"/>
                </a:solidFill>
                <a:effectLst/>
                <a:uFillTx/>
                <a:latin typeface="Calibri"/>
                <a:ea typeface="Calibri"/>
              </a:rPr>
              <a:t>Atualiza só o módulo alterado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4" name="Text 27"/>
          <p:cNvSpPr/>
          <p:nvPr/>
        </p:nvSpPr>
        <p:spPr>
          <a:xfrm>
            <a:off x="8412480" y="4754880"/>
            <a:ext cx="6393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9aaac0"/>
                </a:solidFill>
                <a:effectLst/>
                <a:uFillTx/>
                <a:latin typeface="Calibri"/>
                <a:ea typeface="Calibri"/>
              </a:rPr>
              <a:t>13 / 18</a:t>
            </a:r>
            <a:endParaRPr b="0" lang="pt-B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Shape 0"/>
          <p:cNvSpPr/>
          <p:nvPr/>
        </p:nvSpPr>
        <p:spPr>
          <a:xfrm>
            <a:off x="0" y="0"/>
            <a:ext cx="54000" cy="514296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6" name="Shape 1"/>
          <p:cNvSpPr/>
          <p:nvPr/>
        </p:nvSpPr>
        <p:spPr>
          <a:xfrm>
            <a:off x="274320" y="164520"/>
            <a:ext cx="881640" cy="25524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7" name="Text 2"/>
          <p:cNvSpPr/>
          <p:nvPr/>
        </p:nvSpPr>
        <p:spPr>
          <a:xfrm>
            <a:off x="274320" y="173880"/>
            <a:ext cx="8816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VITE.JS</a:t>
            </a:r>
            <a:endParaRPr b="0" lang="pt-BR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8" name="Text 3"/>
          <p:cNvSpPr/>
          <p:nvPr/>
        </p:nvSpPr>
        <p:spPr>
          <a:xfrm>
            <a:off x="320040" y="457200"/>
            <a:ext cx="82288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Criando e executando projetos com Vite</a:t>
            </a:r>
            <a:endParaRPr b="0" lang="pt-BR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9" name="Text 4"/>
          <p:cNvSpPr/>
          <p:nvPr/>
        </p:nvSpPr>
        <p:spPr>
          <a:xfrm>
            <a:off x="228600" y="1115640"/>
            <a:ext cx="429696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e87722"/>
                </a:solidFill>
                <a:effectLst/>
                <a:uFillTx/>
                <a:latin typeface="Calibri"/>
                <a:ea typeface="Calibri"/>
              </a:rPr>
              <a:t>Projeto novo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0" name="Shape 5"/>
          <p:cNvSpPr/>
          <p:nvPr/>
        </p:nvSpPr>
        <p:spPr>
          <a:xfrm>
            <a:off x="228600" y="1435680"/>
            <a:ext cx="4296960" cy="1736640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1" name="Text 6"/>
          <p:cNvSpPr/>
          <p:nvPr/>
        </p:nvSpPr>
        <p:spPr>
          <a:xfrm>
            <a:off x="365760" y="1572840"/>
            <a:ext cx="4022640" cy="146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6bb5ff"/>
                </a:solidFill>
                <a:effectLst/>
                <a:uFillTx/>
                <a:latin typeface="Courier New"/>
                <a:ea typeface="Courier New"/>
              </a:rPr>
              <a:t>npm create vite@latest meu-projeto</a:t>
            </a:r>
            <a:endParaRPr b="0" lang="pt-BR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6bb5ff"/>
                </a:solidFill>
                <a:effectLst/>
                <a:uFillTx/>
                <a:latin typeface="Courier New"/>
                <a:ea typeface="Courier New"/>
              </a:rPr>
              <a:t>  -- --template react-ts</a:t>
            </a:r>
            <a:endParaRPr b="0" lang="pt-BR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6bb5ff"/>
                </a:solidFill>
                <a:effectLst/>
                <a:uFillTx/>
                <a:latin typeface="Courier New"/>
                <a:ea typeface="Courier New"/>
              </a:rPr>
              <a:t>cd meu-projeto</a:t>
            </a:r>
            <a:endParaRPr b="0" lang="pt-BR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6bb5ff"/>
                </a:solidFill>
                <a:effectLst/>
                <a:uFillTx/>
                <a:latin typeface="Courier New"/>
                <a:ea typeface="Courier New"/>
              </a:rPr>
              <a:t>npm install</a:t>
            </a:r>
            <a:endParaRPr b="0" lang="pt-BR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6bb5ff"/>
                </a:solidFill>
                <a:effectLst/>
                <a:uFillTx/>
                <a:latin typeface="Courier New"/>
                <a:ea typeface="Courier New"/>
              </a:rPr>
              <a:t>npm run dev</a:t>
            </a:r>
            <a:endParaRPr b="0" lang="pt-BR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2" name="Text 7"/>
          <p:cNvSpPr/>
          <p:nvPr/>
        </p:nvSpPr>
        <p:spPr>
          <a:xfrm>
            <a:off x="4663440" y="1115640"/>
            <a:ext cx="420552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Projeto existente (HTML/CSS/JS)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3" name="Shape 8"/>
          <p:cNvSpPr/>
          <p:nvPr/>
        </p:nvSpPr>
        <p:spPr>
          <a:xfrm>
            <a:off x="4663440" y="1435680"/>
            <a:ext cx="4205520" cy="1736640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4" name="Text 9"/>
          <p:cNvSpPr/>
          <p:nvPr/>
        </p:nvSpPr>
        <p:spPr>
          <a:xfrm>
            <a:off x="4800600" y="1572840"/>
            <a:ext cx="3931200" cy="146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6bb5ff"/>
                </a:solidFill>
                <a:effectLst/>
                <a:uFillTx/>
                <a:latin typeface="Courier New"/>
                <a:ea typeface="Courier New"/>
              </a:rPr>
              <a:t>npm init -y</a:t>
            </a:r>
            <a:endParaRPr b="0" lang="pt-BR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6bb5ff"/>
                </a:solidFill>
                <a:effectLst/>
                <a:uFillTx/>
                <a:latin typeface="Courier New"/>
                <a:ea typeface="Courier New"/>
              </a:rPr>
              <a:t>npm install --save-dev vite</a:t>
            </a:r>
            <a:endParaRPr b="0" lang="pt-BR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6bb5ff"/>
                </a:solidFill>
                <a:effectLst/>
                <a:uFillTx/>
                <a:latin typeface="Courier New"/>
                <a:ea typeface="Courier New"/>
              </a:rPr>
              <a:t># package.json → scripts:</a:t>
            </a:r>
            <a:endParaRPr b="0" lang="pt-BR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6bb5ff"/>
                </a:solidFill>
                <a:effectLst/>
                <a:uFillTx/>
                <a:latin typeface="Courier New"/>
                <a:ea typeface="Courier New"/>
              </a:rPr>
              <a:t># "dev":     "vite"</a:t>
            </a:r>
            <a:endParaRPr b="0" lang="pt-BR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6bb5ff"/>
                </a:solidFill>
                <a:effectLst/>
                <a:uFillTx/>
                <a:latin typeface="Courier New"/>
                <a:ea typeface="Courier New"/>
              </a:rPr>
              <a:t># "build":   "vite build"</a:t>
            </a:r>
            <a:endParaRPr b="0" lang="pt-BR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5" name="Text 10"/>
          <p:cNvSpPr/>
          <p:nvPr/>
        </p:nvSpPr>
        <p:spPr>
          <a:xfrm>
            <a:off x="228600" y="3337560"/>
            <a:ext cx="82288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Scripts disponíveis</a:t>
            </a:r>
            <a:endParaRPr b="0" lang="pt-BR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6" name="Shape 11"/>
          <p:cNvSpPr/>
          <p:nvPr/>
        </p:nvSpPr>
        <p:spPr>
          <a:xfrm>
            <a:off x="228600" y="3721680"/>
            <a:ext cx="8686080" cy="419760"/>
          </a:xfrm>
          <a:prstGeom prst="rect">
            <a:avLst/>
          </a:prstGeom>
          <a:solidFill>
            <a:srgbClr val="162b50"/>
          </a:solidFill>
          <a:ln w="12700">
            <a:solidFill>
              <a:srgbClr val="2a4a7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7" name="Text 12"/>
          <p:cNvSpPr/>
          <p:nvPr/>
        </p:nvSpPr>
        <p:spPr>
          <a:xfrm>
            <a:off x="365760" y="3776400"/>
            <a:ext cx="274248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6bb5ff"/>
                </a:solidFill>
                <a:effectLst/>
                <a:uFillTx/>
                <a:latin typeface="Courier New"/>
                <a:ea typeface="Courier New"/>
              </a:rPr>
              <a:t>npm run dev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8" name="Text 13"/>
          <p:cNvSpPr/>
          <p:nvPr/>
        </p:nvSpPr>
        <p:spPr>
          <a:xfrm>
            <a:off x="3200400" y="3776400"/>
            <a:ext cx="475416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Inicia servidor local com HMR</a:t>
            </a:r>
            <a:endParaRPr b="0" lang="pt-BR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9" name="Text 14"/>
          <p:cNvSpPr/>
          <p:nvPr/>
        </p:nvSpPr>
        <p:spPr>
          <a:xfrm>
            <a:off x="7955280" y="3776400"/>
            <a:ext cx="91368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e87722"/>
                </a:solidFill>
                <a:effectLst/>
                <a:uFillTx/>
                <a:latin typeface="Courier New"/>
                <a:ea typeface="Courier New"/>
              </a:rPr>
              <a:t>:5173</a:t>
            </a:r>
            <a:endParaRPr b="0" lang="pt-BR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0" name="Shape 15"/>
          <p:cNvSpPr/>
          <p:nvPr/>
        </p:nvSpPr>
        <p:spPr>
          <a:xfrm>
            <a:off x="228600" y="4160520"/>
            <a:ext cx="8686080" cy="419760"/>
          </a:xfrm>
          <a:prstGeom prst="rect">
            <a:avLst/>
          </a:prstGeom>
          <a:solidFill>
            <a:srgbClr val="0d1b2a"/>
          </a:solidFill>
          <a:ln w="12700">
            <a:solidFill>
              <a:srgbClr val="2a4a7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1" name="Text 16"/>
          <p:cNvSpPr/>
          <p:nvPr/>
        </p:nvSpPr>
        <p:spPr>
          <a:xfrm>
            <a:off x="365760" y="4215240"/>
            <a:ext cx="274248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6bb5ff"/>
                </a:solidFill>
                <a:effectLst/>
                <a:uFillTx/>
                <a:latin typeface="Courier New"/>
                <a:ea typeface="Courier New"/>
              </a:rPr>
              <a:t>npm run build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2" name="Text 17"/>
          <p:cNvSpPr/>
          <p:nvPr/>
        </p:nvSpPr>
        <p:spPr>
          <a:xfrm>
            <a:off x="3200400" y="4215240"/>
            <a:ext cx="475416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Gera build otimizado na pasta dist/</a:t>
            </a:r>
            <a:endParaRPr b="0" lang="pt-BR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3" name="Text 18"/>
          <p:cNvSpPr/>
          <p:nvPr/>
        </p:nvSpPr>
        <p:spPr>
          <a:xfrm>
            <a:off x="7955280" y="4215240"/>
            <a:ext cx="91368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e87722"/>
                </a:solidFill>
                <a:effectLst/>
                <a:uFillTx/>
                <a:latin typeface="Courier New"/>
                <a:ea typeface="Courier New"/>
              </a:rPr>
              <a:t>dist/</a:t>
            </a:r>
            <a:endParaRPr b="0" lang="pt-BR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4" name="Shape 19"/>
          <p:cNvSpPr/>
          <p:nvPr/>
        </p:nvSpPr>
        <p:spPr>
          <a:xfrm>
            <a:off x="228600" y="4599360"/>
            <a:ext cx="8686080" cy="419760"/>
          </a:xfrm>
          <a:prstGeom prst="rect">
            <a:avLst/>
          </a:prstGeom>
          <a:solidFill>
            <a:srgbClr val="162b50"/>
          </a:solidFill>
          <a:ln w="12700">
            <a:solidFill>
              <a:srgbClr val="2a4a7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5" name="Text 20"/>
          <p:cNvSpPr/>
          <p:nvPr/>
        </p:nvSpPr>
        <p:spPr>
          <a:xfrm>
            <a:off x="365760" y="4654440"/>
            <a:ext cx="274248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6bb5ff"/>
                </a:solidFill>
                <a:effectLst/>
                <a:uFillTx/>
                <a:latin typeface="Courier New"/>
                <a:ea typeface="Courier New"/>
              </a:rPr>
              <a:t>npm run preview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6" name="Text 21"/>
          <p:cNvSpPr/>
          <p:nvPr/>
        </p:nvSpPr>
        <p:spPr>
          <a:xfrm>
            <a:off x="3200400" y="4654440"/>
            <a:ext cx="475416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Visualiza o build localmente antes de publicar</a:t>
            </a:r>
            <a:endParaRPr b="0" lang="pt-BR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7" name="Text 22"/>
          <p:cNvSpPr/>
          <p:nvPr/>
        </p:nvSpPr>
        <p:spPr>
          <a:xfrm>
            <a:off x="7955280" y="4654440"/>
            <a:ext cx="91368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e87722"/>
                </a:solidFill>
                <a:effectLst/>
                <a:uFillTx/>
                <a:latin typeface="Courier New"/>
                <a:ea typeface="Courier New"/>
              </a:rPr>
              <a:t>:4173</a:t>
            </a:r>
            <a:endParaRPr b="0" lang="pt-BR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8" name="Text 23"/>
          <p:cNvSpPr/>
          <p:nvPr/>
        </p:nvSpPr>
        <p:spPr>
          <a:xfrm>
            <a:off x="8412480" y="4754880"/>
            <a:ext cx="6393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7b9fc4"/>
                </a:solidFill>
                <a:effectLst/>
                <a:uFillTx/>
                <a:latin typeface="Calibri"/>
                <a:ea typeface="Calibri"/>
              </a:rPr>
              <a:t>14 / 18</a:t>
            </a:r>
            <a:endParaRPr b="0" lang="pt-BR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Shape 0"/>
          <p:cNvSpPr/>
          <p:nvPr/>
        </p:nvSpPr>
        <p:spPr>
          <a:xfrm>
            <a:off x="274320" y="164520"/>
            <a:ext cx="881640" cy="25524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0" name="Text 1"/>
          <p:cNvSpPr/>
          <p:nvPr/>
        </p:nvSpPr>
        <p:spPr>
          <a:xfrm>
            <a:off x="274320" y="173880"/>
            <a:ext cx="8816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VITE.JS</a:t>
            </a:r>
            <a:endParaRPr b="0" lang="pt-B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1" name="Text 2"/>
          <p:cNvSpPr/>
          <p:nvPr/>
        </p:nvSpPr>
        <p:spPr>
          <a:xfrm>
            <a:off x="365760" y="502920"/>
            <a:ext cx="82288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0f1f3d"/>
                </a:solidFill>
                <a:effectLst/>
                <a:uFillTx/>
                <a:latin typeface="Trebuchet MS"/>
                <a:ea typeface="Trebuchet MS"/>
              </a:rPr>
              <a:t>Vite vs Webpack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2" name="Shape 3"/>
          <p:cNvSpPr/>
          <p:nvPr/>
        </p:nvSpPr>
        <p:spPr>
          <a:xfrm>
            <a:off x="3200400" y="1143000"/>
            <a:ext cx="2742480" cy="41076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3" name="Text 4"/>
          <p:cNvSpPr/>
          <p:nvPr/>
        </p:nvSpPr>
        <p:spPr>
          <a:xfrm>
            <a:off x="3200400" y="1143000"/>
            <a:ext cx="27424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Vite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4" name="Shape 5"/>
          <p:cNvSpPr/>
          <p:nvPr/>
        </p:nvSpPr>
        <p:spPr>
          <a:xfrm>
            <a:off x="6035040" y="1143000"/>
            <a:ext cx="2833920" cy="4107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5" name="Text 6"/>
          <p:cNvSpPr/>
          <p:nvPr/>
        </p:nvSpPr>
        <p:spPr>
          <a:xfrm>
            <a:off x="6035040" y="1143000"/>
            <a:ext cx="283392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Webpack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6" name="Shape 7"/>
          <p:cNvSpPr/>
          <p:nvPr/>
        </p:nvSpPr>
        <p:spPr>
          <a:xfrm>
            <a:off x="274320" y="1600200"/>
            <a:ext cx="2879640" cy="520560"/>
          </a:xfrm>
          <a:prstGeom prst="rect">
            <a:avLst/>
          </a:prstGeom>
          <a:solidFill>
            <a:srgbClr val="0f1f3d"/>
          </a:solidFill>
          <a:ln w="12700">
            <a:solidFill>
              <a:srgbClr val="2a4a7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7" name="Text 8"/>
          <p:cNvSpPr/>
          <p:nvPr/>
        </p:nvSpPr>
        <p:spPr>
          <a:xfrm>
            <a:off x="365760" y="1691640"/>
            <a:ext cx="274248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Velocidade dev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8" name="Shape 9"/>
          <p:cNvSpPr/>
          <p:nvPr/>
        </p:nvSpPr>
        <p:spPr>
          <a:xfrm>
            <a:off x="3200400" y="1600200"/>
            <a:ext cx="2788200" cy="520560"/>
          </a:xfrm>
          <a:prstGeom prst="rect">
            <a:avLst/>
          </a:prstGeom>
          <a:solidFill>
            <a:srgbClr val="ebf0fa"/>
          </a:solidFill>
          <a:ln w="12700">
            <a:solidFill>
              <a:srgbClr val="c8d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9" name="Text 10"/>
          <p:cNvSpPr/>
          <p:nvPr/>
        </p:nvSpPr>
        <p:spPr>
          <a:xfrm>
            <a:off x="3291840" y="1691640"/>
            <a:ext cx="260532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1a7a4a"/>
                </a:solidFill>
                <a:effectLst/>
                <a:uFillTx/>
                <a:latin typeface="Calibri"/>
                <a:ea typeface="Calibri"/>
              </a:rPr>
              <a:t>Muito rápida — ESM nativo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0" name="Shape 11"/>
          <p:cNvSpPr/>
          <p:nvPr/>
        </p:nvSpPr>
        <p:spPr>
          <a:xfrm>
            <a:off x="6035040" y="1600200"/>
            <a:ext cx="2833920" cy="520560"/>
          </a:xfrm>
          <a:prstGeom prst="rect">
            <a:avLst/>
          </a:prstGeom>
          <a:solidFill>
            <a:srgbClr val="ebf0fa"/>
          </a:solidFill>
          <a:ln w="12700">
            <a:solidFill>
              <a:srgbClr val="c8d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1" name="Text 12"/>
          <p:cNvSpPr/>
          <p:nvPr/>
        </p:nvSpPr>
        <p:spPr>
          <a:xfrm>
            <a:off x="6126480" y="1691640"/>
            <a:ext cx="265104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445566"/>
                </a:solidFill>
                <a:effectLst/>
                <a:uFillTx/>
                <a:latin typeface="Calibri"/>
                <a:ea typeface="Calibri"/>
              </a:rPr>
              <a:t>Mais lenta — bundle completo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2" name="Shape 13"/>
          <p:cNvSpPr/>
          <p:nvPr/>
        </p:nvSpPr>
        <p:spPr>
          <a:xfrm>
            <a:off x="274320" y="2148840"/>
            <a:ext cx="2879640" cy="520560"/>
          </a:xfrm>
          <a:prstGeom prst="rect">
            <a:avLst/>
          </a:prstGeom>
          <a:solidFill>
            <a:srgbClr val="0f1f3d"/>
          </a:solidFill>
          <a:ln w="12700">
            <a:solidFill>
              <a:srgbClr val="2a4a7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3" name="Text 14"/>
          <p:cNvSpPr/>
          <p:nvPr/>
        </p:nvSpPr>
        <p:spPr>
          <a:xfrm>
            <a:off x="365760" y="2240280"/>
            <a:ext cx="274248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Build produção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4" name="Shape 15"/>
          <p:cNvSpPr/>
          <p:nvPr/>
        </p:nvSpPr>
        <p:spPr>
          <a:xfrm>
            <a:off x="3200400" y="2148840"/>
            <a:ext cx="2788200" cy="52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5" name="Text 16"/>
          <p:cNvSpPr/>
          <p:nvPr/>
        </p:nvSpPr>
        <p:spPr>
          <a:xfrm>
            <a:off x="3291840" y="2240280"/>
            <a:ext cx="260532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1a7a4a"/>
                </a:solidFill>
                <a:effectLst/>
                <a:uFillTx/>
                <a:latin typeface="Calibri"/>
                <a:ea typeface="Calibri"/>
              </a:rPr>
              <a:t>Rollup (otimizado)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6" name="Shape 17"/>
          <p:cNvSpPr/>
          <p:nvPr/>
        </p:nvSpPr>
        <p:spPr>
          <a:xfrm>
            <a:off x="6035040" y="2148840"/>
            <a:ext cx="2833920" cy="52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7" name="Text 18"/>
          <p:cNvSpPr/>
          <p:nvPr/>
        </p:nvSpPr>
        <p:spPr>
          <a:xfrm>
            <a:off x="6126480" y="2240280"/>
            <a:ext cx="265104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445566"/>
                </a:solidFill>
                <a:effectLst/>
                <a:uFillTx/>
                <a:latin typeface="Calibri"/>
                <a:ea typeface="Calibri"/>
              </a:rPr>
              <a:t>Bundle próprio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Shape 19"/>
          <p:cNvSpPr/>
          <p:nvPr/>
        </p:nvSpPr>
        <p:spPr>
          <a:xfrm>
            <a:off x="274320" y="2697480"/>
            <a:ext cx="2879640" cy="520560"/>
          </a:xfrm>
          <a:prstGeom prst="rect">
            <a:avLst/>
          </a:prstGeom>
          <a:solidFill>
            <a:srgbClr val="0f1f3d"/>
          </a:solidFill>
          <a:ln w="12700">
            <a:solidFill>
              <a:srgbClr val="2a4a7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9" name="Text 20"/>
          <p:cNvSpPr/>
          <p:nvPr/>
        </p:nvSpPr>
        <p:spPr>
          <a:xfrm>
            <a:off x="365760" y="2788920"/>
            <a:ext cx="274248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Configuração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0" name="Shape 21"/>
          <p:cNvSpPr/>
          <p:nvPr/>
        </p:nvSpPr>
        <p:spPr>
          <a:xfrm>
            <a:off x="3200400" y="2697480"/>
            <a:ext cx="2788200" cy="520560"/>
          </a:xfrm>
          <a:prstGeom prst="rect">
            <a:avLst/>
          </a:prstGeom>
          <a:solidFill>
            <a:srgbClr val="ebf0fa"/>
          </a:solidFill>
          <a:ln w="12700">
            <a:solidFill>
              <a:srgbClr val="c8d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1" name="Text 22"/>
          <p:cNvSpPr/>
          <p:nvPr/>
        </p:nvSpPr>
        <p:spPr>
          <a:xfrm>
            <a:off x="3291840" y="2788920"/>
            <a:ext cx="260532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1a7a4a"/>
                </a:solidFill>
                <a:effectLst/>
                <a:uFillTx/>
                <a:latin typeface="Calibri"/>
                <a:ea typeface="Calibri"/>
              </a:rPr>
              <a:t>Mínima — zero config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2" name="Shape 23"/>
          <p:cNvSpPr/>
          <p:nvPr/>
        </p:nvSpPr>
        <p:spPr>
          <a:xfrm>
            <a:off x="6035040" y="2697480"/>
            <a:ext cx="2833920" cy="520560"/>
          </a:xfrm>
          <a:prstGeom prst="rect">
            <a:avLst/>
          </a:prstGeom>
          <a:solidFill>
            <a:srgbClr val="ebf0fa"/>
          </a:solidFill>
          <a:ln w="12700">
            <a:solidFill>
              <a:srgbClr val="c8d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3" name="Text 24"/>
          <p:cNvSpPr/>
          <p:nvPr/>
        </p:nvSpPr>
        <p:spPr>
          <a:xfrm>
            <a:off x="6126480" y="2788920"/>
            <a:ext cx="265104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445566"/>
                </a:solidFill>
                <a:effectLst/>
                <a:uFillTx/>
                <a:latin typeface="Calibri"/>
                <a:ea typeface="Calibri"/>
              </a:rPr>
              <a:t>Extensível, porém verbosa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4" name="Shape 25"/>
          <p:cNvSpPr/>
          <p:nvPr/>
        </p:nvSpPr>
        <p:spPr>
          <a:xfrm>
            <a:off x="274320" y="3246120"/>
            <a:ext cx="2879640" cy="520560"/>
          </a:xfrm>
          <a:prstGeom prst="rect">
            <a:avLst/>
          </a:prstGeom>
          <a:solidFill>
            <a:srgbClr val="0f1f3d"/>
          </a:solidFill>
          <a:ln w="12700">
            <a:solidFill>
              <a:srgbClr val="2a4a7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5" name="Text 26"/>
          <p:cNvSpPr/>
          <p:nvPr/>
        </p:nvSpPr>
        <p:spPr>
          <a:xfrm>
            <a:off x="365760" y="3337560"/>
            <a:ext cx="274248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Curva aprendizado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6" name="Shape 27"/>
          <p:cNvSpPr/>
          <p:nvPr/>
        </p:nvSpPr>
        <p:spPr>
          <a:xfrm>
            <a:off x="3200400" y="3246120"/>
            <a:ext cx="2788200" cy="52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7" name="Text 28"/>
          <p:cNvSpPr/>
          <p:nvPr/>
        </p:nvSpPr>
        <p:spPr>
          <a:xfrm>
            <a:off x="3291840" y="3337560"/>
            <a:ext cx="260532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1a7a4a"/>
                </a:solidFill>
                <a:effectLst/>
                <a:uFillTx/>
                <a:latin typeface="Calibri"/>
                <a:ea typeface="Calibri"/>
              </a:rPr>
              <a:t>Baixa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8" name="Shape 29"/>
          <p:cNvSpPr/>
          <p:nvPr/>
        </p:nvSpPr>
        <p:spPr>
          <a:xfrm>
            <a:off x="6035040" y="3246120"/>
            <a:ext cx="2833920" cy="52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9" name="Text 30"/>
          <p:cNvSpPr/>
          <p:nvPr/>
        </p:nvSpPr>
        <p:spPr>
          <a:xfrm>
            <a:off x="6126480" y="3337560"/>
            <a:ext cx="265104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445566"/>
                </a:solidFill>
                <a:effectLst/>
                <a:uFillTx/>
                <a:latin typeface="Calibri"/>
                <a:ea typeface="Calibri"/>
              </a:rPr>
              <a:t>Média a alta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0" name="Shape 31"/>
          <p:cNvSpPr/>
          <p:nvPr/>
        </p:nvSpPr>
        <p:spPr>
          <a:xfrm>
            <a:off x="274320" y="3794760"/>
            <a:ext cx="2879640" cy="520560"/>
          </a:xfrm>
          <a:prstGeom prst="rect">
            <a:avLst/>
          </a:prstGeom>
          <a:solidFill>
            <a:srgbClr val="0f1f3d"/>
          </a:solidFill>
          <a:ln w="12700">
            <a:solidFill>
              <a:srgbClr val="2a4a7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1" name="Text 32"/>
          <p:cNvSpPr/>
          <p:nvPr/>
        </p:nvSpPr>
        <p:spPr>
          <a:xfrm>
            <a:off x="365760" y="3886200"/>
            <a:ext cx="274248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Ecossistema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2" name="Shape 33"/>
          <p:cNvSpPr/>
          <p:nvPr/>
        </p:nvSpPr>
        <p:spPr>
          <a:xfrm>
            <a:off x="3200400" y="3794760"/>
            <a:ext cx="2788200" cy="520560"/>
          </a:xfrm>
          <a:prstGeom prst="rect">
            <a:avLst/>
          </a:prstGeom>
          <a:solidFill>
            <a:srgbClr val="ebf0fa"/>
          </a:solidFill>
          <a:ln w="12700">
            <a:solidFill>
              <a:srgbClr val="c8d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3" name="Text 34"/>
          <p:cNvSpPr/>
          <p:nvPr/>
        </p:nvSpPr>
        <p:spPr>
          <a:xfrm>
            <a:off x="3291840" y="3886200"/>
            <a:ext cx="260532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1a7a4a"/>
                </a:solidFill>
                <a:effectLst/>
                <a:uFillTx/>
                <a:latin typeface="Calibri"/>
                <a:ea typeface="Calibri"/>
              </a:rPr>
              <a:t>Crescente — React, Vue, Svelte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4" name="Shape 35"/>
          <p:cNvSpPr/>
          <p:nvPr/>
        </p:nvSpPr>
        <p:spPr>
          <a:xfrm>
            <a:off x="6035040" y="3794760"/>
            <a:ext cx="2833920" cy="520560"/>
          </a:xfrm>
          <a:prstGeom prst="rect">
            <a:avLst/>
          </a:prstGeom>
          <a:solidFill>
            <a:srgbClr val="ebf0fa"/>
          </a:solidFill>
          <a:ln w="12700">
            <a:solidFill>
              <a:srgbClr val="c8d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5" name="Text 36"/>
          <p:cNvSpPr/>
          <p:nvPr/>
        </p:nvSpPr>
        <p:spPr>
          <a:xfrm>
            <a:off x="6126480" y="3886200"/>
            <a:ext cx="265104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445566"/>
                </a:solidFill>
                <a:effectLst/>
                <a:uFillTx/>
                <a:latin typeface="Calibri"/>
                <a:ea typeface="Calibri"/>
              </a:rPr>
              <a:t>Maduro — muito usado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6" name="Shape 37"/>
          <p:cNvSpPr/>
          <p:nvPr/>
        </p:nvSpPr>
        <p:spPr>
          <a:xfrm>
            <a:off x="274320" y="4343400"/>
            <a:ext cx="2879640" cy="520560"/>
          </a:xfrm>
          <a:prstGeom prst="rect">
            <a:avLst/>
          </a:prstGeom>
          <a:solidFill>
            <a:srgbClr val="0f1f3d"/>
          </a:solidFill>
          <a:ln w="12700">
            <a:solidFill>
              <a:srgbClr val="2a4a7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7" name="Text 38"/>
          <p:cNvSpPr/>
          <p:nvPr/>
        </p:nvSpPr>
        <p:spPr>
          <a:xfrm>
            <a:off x="365760" y="4434840"/>
            <a:ext cx="274248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Quando usar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8" name="Shape 39"/>
          <p:cNvSpPr/>
          <p:nvPr/>
        </p:nvSpPr>
        <p:spPr>
          <a:xfrm>
            <a:off x="3200400" y="4343400"/>
            <a:ext cx="2788200" cy="52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9" name="Text 40"/>
          <p:cNvSpPr/>
          <p:nvPr/>
        </p:nvSpPr>
        <p:spPr>
          <a:xfrm>
            <a:off x="3291840" y="4434840"/>
            <a:ext cx="260532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1a7a4a"/>
                </a:solidFill>
                <a:effectLst/>
                <a:uFillTx/>
                <a:latin typeface="Calibri"/>
                <a:ea typeface="Calibri"/>
              </a:rPr>
              <a:t>Projetos novos e prototipagem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0" name="Shape 41"/>
          <p:cNvSpPr/>
          <p:nvPr/>
        </p:nvSpPr>
        <p:spPr>
          <a:xfrm>
            <a:off x="6035040" y="4343400"/>
            <a:ext cx="2833920" cy="52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1" name="Text 42"/>
          <p:cNvSpPr/>
          <p:nvPr/>
        </p:nvSpPr>
        <p:spPr>
          <a:xfrm>
            <a:off x="6126480" y="4434840"/>
            <a:ext cx="265104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445566"/>
                </a:solidFill>
                <a:effectLst/>
                <a:uFillTx/>
                <a:latin typeface="Calibri"/>
                <a:ea typeface="Calibri"/>
              </a:rPr>
              <a:t>Projetos legados / custom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2" name="Shape 43"/>
          <p:cNvSpPr/>
          <p:nvPr/>
        </p:nvSpPr>
        <p:spPr>
          <a:xfrm>
            <a:off x="274320" y="4846320"/>
            <a:ext cx="8594640" cy="20052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3" name="Text 44"/>
          <p:cNvSpPr/>
          <p:nvPr/>
        </p:nvSpPr>
        <p:spPr>
          <a:xfrm>
            <a:off x="365760" y="4846320"/>
            <a:ext cx="841176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Usaremos Vite em todos os projetos desta disciplina  →  rápido, moderno, integração nativa com React + TypeScript</a:t>
            </a:r>
            <a:endParaRPr b="0" lang="pt-B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4" name="Text 45"/>
          <p:cNvSpPr/>
          <p:nvPr/>
        </p:nvSpPr>
        <p:spPr>
          <a:xfrm>
            <a:off x="8412480" y="4754880"/>
            <a:ext cx="6393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9aaac0"/>
                </a:solidFill>
                <a:effectLst/>
                <a:uFillTx/>
                <a:latin typeface="Calibri"/>
                <a:ea typeface="Calibri"/>
              </a:rPr>
              <a:t>15 / 18</a:t>
            </a:r>
            <a:endParaRPr b="0" lang="pt-B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Shape 0"/>
          <p:cNvSpPr/>
          <p:nvPr/>
        </p:nvSpPr>
        <p:spPr>
          <a:xfrm>
            <a:off x="0" y="0"/>
            <a:ext cx="54000" cy="514296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6" name="Shape 1"/>
          <p:cNvSpPr/>
          <p:nvPr/>
        </p:nvSpPr>
        <p:spPr>
          <a:xfrm>
            <a:off x="274320" y="164520"/>
            <a:ext cx="1055520" cy="25524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7" name="Text 2"/>
          <p:cNvSpPr/>
          <p:nvPr/>
        </p:nvSpPr>
        <p:spPr>
          <a:xfrm>
            <a:off x="274320" y="173880"/>
            <a:ext cx="10555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ATIVIDADE</a:t>
            </a:r>
            <a:endParaRPr b="0" lang="pt-BR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8" name="Text 3"/>
          <p:cNvSpPr/>
          <p:nvPr/>
        </p:nvSpPr>
        <p:spPr>
          <a:xfrm>
            <a:off x="320040" y="457200"/>
            <a:ext cx="822888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Atividade — Repositório Individual</a:t>
            </a:r>
            <a:endParaRPr b="0" lang="pt-BR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9" name="Shape 4"/>
          <p:cNvSpPr/>
          <p:nvPr/>
        </p:nvSpPr>
        <p:spPr>
          <a:xfrm>
            <a:off x="228600" y="1234440"/>
            <a:ext cx="4205520" cy="1096560"/>
          </a:xfrm>
          <a:prstGeom prst="rect">
            <a:avLst/>
          </a:prstGeom>
          <a:solidFill>
            <a:srgbClr val="162b50"/>
          </a:solidFill>
          <a:ln w="12700">
            <a:solidFill>
              <a:srgbClr val="2a4a7f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0" name="Shape 5"/>
          <p:cNvSpPr/>
          <p:nvPr/>
        </p:nvSpPr>
        <p:spPr>
          <a:xfrm>
            <a:off x="338400" y="1581840"/>
            <a:ext cx="401760" cy="401760"/>
          </a:xfrm>
          <a:prstGeom prst="ellipse">
            <a:avLst/>
          </a:prstGeom>
          <a:solidFill>
            <a:srgbClr val="e87722"/>
          </a:solidFill>
          <a:ln w="12700">
            <a:solidFill>
              <a:srgbClr val="e877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1" name="Text 6"/>
          <p:cNvSpPr/>
          <p:nvPr/>
        </p:nvSpPr>
        <p:spPr>
          <a:xfrm>
            <a:off x="338400" y="1581840"/>
            <a:ext cx="40176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1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2" name="Text 7"/>
          <p:cNvSpPr/>
          <p:nvPr/>
        </p:nvSpPr>
        <p:spPr>
          <a:xfrm>
            <a:off x="822960" y="1325880"/>
            <a:ext cx="34740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Criar branch</a:t>
            </a:r>
            <a:endParaRPr b="0" lang="pt-BR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3" name="Text 8"/>
          <p:cNvSpPr/>
          <p:nvPr/>
        </p:nvSpPr>
        <p:spPr>
          <a:xfrm>
            <a:off x="822960" y="1764720"/>
            <a:ext cx="347400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7b9fc4"/>
                </a:solidFill>
                <a:effectLst/>
                <a:uFillTx/>
                <a:latin typeface="Calibri"/>
                <a:ea typeface="Calibri"/>
              </a:rPr>
              <a:t>feature-ferramentas-desenvolvimento a partir da main</a:t>
            </a:r>
            <a:endParaRPr b="0" lang="pt-BR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4" name="Shape 9"/>
          <p:cNvSpPr/>
          <p:nvPr/>
        </p:nvSpPr>
        <p:spPr>
          <a:xfrm>
            <a:off x="4663440" y="1234440"/>
            <a:ext cx="4205520" cy="1096560"/>
          </a:xfrm>
          <a:prstGeom prst="rect">
            <a:avLst/>
          </a:prstGeom>
          <a:solidFill>
            <a:srgbClr val="162b50"/>
          </a:solidFill>
          <a:ln w="12700">
            <a:solidFill>
              <a:srgbClr val="2a4a7f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5" name="Shape 10"/>
          <p:cNvSpPr/>
          <p:nvPr/>
        </p:nvSpPr>
        <p:spPr>
          <a:xfrm>
            <a:off x="4773240" y="1581840"/>
            <a:ext cx="401760" cy="401760"/>
          </a:xfrm>
          <a:prstGeom prst="ellipse">
            <a:avLst/>
          </a:prstGeom>
          <a:solidFill>
            <a:srgbClr val="e87722"/>
          </a:solidFill>
          <a:ln w="12700">
            <a:solidFill>
              <a:srgbClr val="e877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6" name="Text 11"/>
          <p:cNvSpPr/>
          <p:nvPr/>
        </p:nvSpPr>
        <p:spPr>
          <a:xfrm>
            <a:off x="4773240" y="1581840"/>
            <a:ext cx="40176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2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7" name="Text 12"/>
          <p:cNvSpPr/>
          <p:nvPr/>
        </p:nvSpPr>
        <p:spPr>
          <a:xfrm>
            <a:off x="5257800" y="1325880"/>
            <a:ext cx="34740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Adicionar npm</a:t>
            </a:r>
            <a:endParaRPr b="0" lang="pt-BR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8" name="Text 13"/>
          <p:cNvSpPr/>
          <p:nvPr/>
        </p:nvSpPr>
        <p:spPr>
          <a:xfrm>
            <a:off x="5257800" y="1764720"/>
            <a:ext cx="347400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7b9fc4"/>
                </a:solidFill>
                <a:effectLst/>
                <a:uFillTx/>
                <a:latin typeface="Calibri"/>
                <a:ea typeface="Calibri"/>
              </a:rPr>
              <a:t>npm init -y no projeto das aulas anteriores</a:t>
            </a:r>
            <a:endParaRPr b="0" lang="pt-BR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9" name="Shape 14"/>
          <p:cNvSpPr/>
          <p:nvPr/>
        </p:nvSpPr>
        <p:spPr>
          <a:xfrm>
            <a:off x="228600" y="2468880"/>
            <a:ext cx="4205520" cy="1096560"/>
          </a:xfrm>
          <a:prstGeom prst="rect">
            <a:avLst/>
          </a:prstGeom>
          <a:solidFill>
            <a:srgbClr val="162b50"/>
          </a:solidFill>
          <a:ln w="12700">
            <a:solidFill>
              <a:srgbClr val="2a4a7f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0" name="Shape 15"/>
          <p:cNvSpPr/>
          <p:nvPr/>
        </p:nvSpPr>
        <p:spPr>
          <a:xfrm>
            <a:off x="338400" y="2816280"/>
            <a:ext cx="401760" cy="401760"/>
          </a:xfrm>
          <a:prstGeom prst="ellipse">
            <a:avLst/>
          </a:prstGeom>
          <a:solidFill>
            <a:srgbClr val="e87722"/>
          </a:solidFill>
          <a:ln w="12700">
            <a:solidFill>
              <a:srgbClr val="e877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1" name="Text 16"/>
          <p:cNvSpPr/>
          <p:nvPr/>
        </p:nvSpPr>
        <p:spPr>
          <a:xfrm>
            <a:off x="338400" y="2816280"/>
            <a:ext cx="40176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3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2" name="Text 17"/>
          <p:cNvSpPr/>
          <p:nvPr/>
        </p:nvSpPr>
        <p:spPr>
          <a:xfrm>
            <a:off x="822960" y="2560320"/>
            <a:ext cx="34740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Configurar .gitignore</a:t>
            </a:r>
            <a:endParaRPr b="0" lang="pt-BR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3" name="Text 18"/>
          <p:cNvSpPr/>
          <p:nvPr/>
        </p:nvSpPr>
        <p:spPr>
          <a:xfrm>
            <a:off x="822960" y="2999160"/>
            <a:ext cx="347400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7b9fc4"/>
                </a:solidFill>
                <a:effectLst/>
                <a:uFillTx/>
                <a:latin typeface="Calibri"/>
                <a:ea typeface="Calibri"/>
              </a:rPr>
              <a:t>Ignorar node_modules, .env e arquivos de build</a:t>
            </a:r>
            <a:endParaRPr b="0" lang="pt-BR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4" name="Shape 19"/>
          <p:cNvSpPr/>
          <p:nvPr/>
        </p:nvSpPr>
        <p:spPr>
          <a:xfrm>
            <a:off x="4663440" y="2468880"/>
            <a:ext cx="4205520" cy="1096560"/>
          </a:xfrm>
          <a:prstGeom prst="rect">
            <a:avLst/>
          </a:prstGeom>
          <a:solidFill>
            <a:srgbClr val="162b50"/>
          </a:solidFill>
          <a:ln w="12700">
            <a:solidFill>
              <a:srgbClr val="2a4a7f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5" name="Shape 20"/>
          <p:cNvSpPr/>
          <p:nvPr/>
        </p:nvSpPr>
        <p:spPr>
          <a:xfrm>
            <a:off x="4773240" y="2816280"/>
            <a:ext cx="401760" cy="401760"/>
          </a:xfrm>
          <a:prstGeom prst="ellipse">
            <a:avLst/>
          </a:prstGeom>
          <a:solidFill>
            <a:srgbClr val="e87722"/>
          </a:solidFill>
          <a:ln w="12700">
            <a:solidFill>
              <a:srgbClr val="e877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6" name="Text 21"/>
          <p:cNvSpPr/>
          <p:nvPr/>
        </p:nvSpPr>
        <p:spPr>
          <a:xfrm>
            <a:off x="4773240" y="2816280"/>
            <a:ext cx="40176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4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7" name="Text 22"/>
          <p:cNvSpPr/>
          <p:nvPr/>
        </p:nvSpPr>
        <p:spPr>
          <a:xfrm>
            <a:off x="5257800" y="2560320"/>
            <a:ext cx="34740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Instalar ESLint</a:t>
            </a:r>
            <a:endParaRPr b="0" lang="pt-BR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8" name="Text 23"/>
          <p:cNvSpPr/>
          <p:nvPr/>
        </p:nvSpPr>
        <p:spPr>
          <a:xfrm>
            <a:off x="5257800" y="2999160"/>
            <a:ext cx="347400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7b9fc4"/>
                </a:solidFill>
                <a:effectLst/>
                <a:uFillTx/>
                <a:latin typeface="Calibri"/>
                <a:ea typeface="Calibri"/>
              </a:rPr>
              <a:t>Configurar scripts de lint no package.json</a:t>
            </a:r>
            <a:endParaRPr b="0" lang="pt-BR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9" name="Shape 24"/>
          <p:cNvSpPr/>
          <p:nvPr/>
        </p:nvSpPr>
        <p:spPr>
          <a:xfrm>
            <a:off x="228600" y="3703320"/>
            <a:ext cx="4205520" cy="1096560"/>
          </a:xfrm>
          <a:prstGeom prst="rect">
            <a:avLst/>
          </a:prstGeom>
          <a:solidFill>
            <a:srgbClr val="162b50"/>
          </a:solidFill>
          <a:ln w="12700">
            <a:solidFill>
              <a:srgbClr val="2a4a7f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0" name="Shape 25"/>
          <p:cNvSpPr/>
          <p:nvPr/>
        </p:nvSpPr>
        <p:spPr>
          <a:xfrm>
            <a:off x="338400" y="4050720"/>
            <a:ext cx="401760" cy="401760"/>
          </a:xfrm>
          <a:prstGeom prst="ellipse">
            <a:avLst/>
          </a:prstGeom>
          <a:solidFill>
            <a:srgbClr val="e87722"/>
          </a:solidFill>
          <a:ln w="12700">
            <a:solidFill>
              <a:srgbClr val="e877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1" name="Text 26"/>
          <p:cNvSpPr/>
          <p:nvPr/>
        </p:nvSpPr>
        <p:spPr>
          <a:xfrm>
            <a:off x="338400" y="4050720"/>
            <a:ext cx="40176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5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2" name="Text 27"/>
          <p:cNvSpPr/>
          <p:nvPr/>
        </p:nvSpPr>
        <p:spPr>
          <a:xfrm>
            <a:off x="822960" y="3794760"/>
            <a:ext cx="34740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Instalar Prettier</a:t>
            </a:r>
            <a:endParaRPr b="0" lang="pt-BR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3" name="Text 28"/>
          <p:cNvSpPr/>
          <p:nvPr/>
        </p:nvSpPr>
        <p:spPr>
          <a:xfrm>
            <a:off x="822960" y="4233600"/>
            <a:ext cx="347400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7b9fc4"/>
                </a:solidFill>
                <a:effectLst/>
                <a:uFillTx/>
                <a:latin typeface="Calibri"/>
                <a:ea typeface="Calibri"/>
              </a:rPr>
              <a:t>Configurar scripts de format no package.json</a:t>
            </a:r>
            <a:endParaRPr b="0" lang="pt-BR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4" name="Shape 29"/>
          <p:cNvSpPr/>
          <p:nvPr/>
        </p:nvSpPr>
        <p:spPr>
          <a:xfrm>
            <a:off x="4663440" y="3703320"/>
            <a:ext cx="4205520" cy="1096560"/>
          </a:xfrm>
          <a:prstGeom prst="rect">
            <a:avLst/>
          </a:prstGeom>
          <a:solidFill>
            <a:srgbClr val="162b50"/>
          </a:solidFill>
          <a:ln w="12700">
            <a:solidFill>
              <a:srgbClr val="2a4a7f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5" name="Shape 30"/>
          <p:cNvSpPr/>
          <p:nvPr/>
        </p:nvSpPr>
        <p:spPr>
          <a:xfrm>
            <a:off x="4773240" y="4050720"/>
            <a:ext cx="401760" cy="401760"/>
          </a:xfrm>
          <a:prstGeom prst="ellipse">
            <a:avLst/>
          </a:prstGeom>
          <a:solidFill>
            <a:srgbClr val="e87722"/>
          </a:solidFill>
          <a:ln w="12700">
            <a:solidFill>
              <a:srgbClr val="e877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6" name="Text 31"/>
          <p:cNvSpPr/>
          <p:nvPr/>
        </p:nvSpPr>
        <p:spPr>
          <a:xfrm>
            <a:off x="4773240" y="4050720"/>
            <a:ext cx="40176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6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7" name="Text 32"/>
          <p:cNvSpPr/>
          <p:nvPr/>
        </p:nvSpPr>
        <p:spPr>
          <a:xfrm>
            <a:off x="5257800" y="3794760"/>
            <a:ext cx="34740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Configurar Husky</a:t>
            </a:r>
            <a:endParaRPr b="0" lang="pt-BR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8" name="Text 33"/>
          <p:cNvSpPr/>
          <p:nvPr/>
        </p:nvSpPr>
        <p:spPr>
          <a:xfrm>
            <a:off x="5257800" y="4233600"/>
            <a:ext cx="347400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7b9fc4"/>
                </a:solidFill>
                <a:effectLst/>
                <a:uFillTx/>
                <a:latin typeface="Calibri"/>
                <a:ea typeface="Calibri"/>
              </a:rPr>
              <a:t>Hook pre-commit com lint-staged — teste de falha</a:t>
            </a:r>
            <a:endParaRPr b="0" lang="pt-BR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9" name="Shape 34"/>
          <p:cNvSpPr/>
          <p:nvPr/>
        </p:nvSpPr>
        <p:spPr>
          <a:xfrm>
            <a:off x="182880" y="4680000"/>
            <a:ext cx="8686080" cy="383400"/>
          </a:xfrm>
          <a:prstGeom prst="rect">
            <a:avLst/>
          </a:prstGeom>
          <a:solidFill>
            <a:srgbClr val="1b3a6b"/>
          </a:solidFill>
          <a:ln w="12700">
            <a:solidFill>
              <a:srgbClr val="2a4a7f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0" name="Text 35"/>
          <p:cNvSpPr/>
          <p:nvPr/>
        </p:nvSpPr>
        <p:spPr>
          <a:xfrm>
            <a:off x="360000" y="4680000"/>
            <a:ext cx="841176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Entrega:  Repasse o NOME + link do repositório GitHub no whatsapp da turma.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1" name="Text 36"/>
          <p:cNvSpPr/>
          <p:nvPr/>
        </p:nvSpPr>
        <p:spPr>
          <a:xfrm>
            <a:off x="8412480" y="4754880"/>
            <a:ext cx="6393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7b9fc4"/>
                </a:solidFill>
                <a:effectLst/>
                <a:uFillTx/>
                <a:latin typeface="Calibri"/>
                <a:ea typeface="Calibri"/>
              </a:rPr>
              <a:t>16 / 18</a:t>
            </a:r>
            <a:endParaRPr b="0" lang="pt-BR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Shape 0"/>
          <p:cNvSpPr/>
          <p:nvPr/>
        </p:nvSpPr>
        <p:spPr>
          <a:xfrm>
            <a:off x="274320" y="164520"/>
            <a:ext cx="1229040" cy="25524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3" name="Text 1"/>
          <p:cNvSpPr/>
          <p:nvPr/>
        </p:nvSpPr>
        <p:spPr>
          <a:xfrm>
            <a:off x="274320" y="173880"/>
            <a:ext cx="12290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REFERÊNCIAS</a:t>
            </a:r>
            <a:endParaRPr b="0" lang="pt-B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4" name="Text 2"/>
          <p:cNvSpPr/>
          <p:nvPr/>
        </p:nvSpPr>
        <p:spPr>
          <a:xfrm>
            <a:off x="365760" y="502920"/>
            <a:ext cx="82288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0f1f3d"/>
                </a:solidFill>
                <a:effectLst/>
                <a:uFillTx/>
                <a:latin typeface="Trebuchet MS"/>
                <a:ea typeface="Trebuchet MS"/>
              </a:rPr>
              <a:t>Materiais de estudo</a:t>
            </a:r>
            <a:endParaRPr b="0" lang="pt-B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5" name="Shape 3"/>
          <p:cNvSpPr/>
          <p:nvPr/>
        </p:nvSpPr>
        <p:spPr>
          <a:xfrm>
            <a:off x="274320" y="1188720"/>
            <a:ext cx="4159800" cy="749160"/>
          </a:xfrm>
          <a:prstGeom prst="rect">
            <a:avLst/>
          </a:prstGeom>
          <a:solidFill>
            <a:srgbClr val="ebf0fa"/>
          </a:solidFill>
          <a:ln w="12700">
            <a:solidFill>
              <a:srgbClr val="c8d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6" name="Shape 4"/>
          <p:cNvSpPr/>
          <p:nvPr/>
        </p:nvSpPr>
        <p:spPr>
          <a:xfrm>
            <a:off x="274320" y="1188720"/>
            <a:ext cx="45000" cy="7491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7" name="Text 5"/>
          <p:cNvSpPr/>
          <p:nvPr/>
        </p:nvSpPr>
        <p:spPr>
          <a:xfrm>
            <a:off x="411480" y="1234440"/>
            <a:ext cx="39312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1b3a6b"/>
                </a:solidFill>
                <a:effectLst/>
                <a:uFillTx/>
                <a:latin typeface="Calibri"/>
                <a:ea typeface="Calibri"/>
              </a:rPr>
              <a:t>Node.js</a:t>
            </a:r>
            <a:endParaRPr b="0" lang="pt-B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8" name="Text 6"/>
          <p:cNvSpPr/>
          <p:nvPr/>
        </p:nvSpPr>
        <p:spPr>
          <a:xfrm>
            <a:off x="411480" y="1508760"/>
            <a:ext cx="393120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sng">
                <a:solidFill>
                  <a:srgbClr val="2244aa"/>
                </a:solidFill>
                <a:effectLst/>
                <a:uFillTx/>
                <a:latin typeface="Courier New"/>
                <a:ea typeface="Courier New"/>
              </a:rPr>
              <a:t>nodejs.org/pt-br/docs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9" name="Shape 7"/>
          <p:cNvSpPr/>
          <p:nvPr/>
        </p:nvSpPr>
        <p:spPr>
          <a:xfrm>
            <a:off x="4754880" y="1188720"/>
            <a:ext cx="4159800" cy="749160"/>
          </a:xfrm>
          <a:prstGeom prst="rect">
            <a:avLst/>
          </a:prstGeom>
          <a:solidFill>
            <a:srgbClr val="ebf0fa"/>
          </a:solidFill>
          <a:ln w="12700">
            <a:solidFill>
              <a:srgbClr val="c8d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0" name="Shape 8"/>
          <p:cNvSpPr/>
          <p:nvPr/>
        </p:nvSpPr>
        <p:spPr>
          <a:xfrm>
            <a:off x="4754880" y="1188720"/>
            <a:ext cx="45000" cy="74916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1" name="Text 9"/>
          <p:cNvSpPr/>
          <p:nvPr/>
        </p:nvSpPr>
        <p:spPr>
          <a:xfrm>
            <a:off x="4892040" y="1234440"/>
            <a:ext cx="39312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e87722"/>
                </a:solidFill>
                <a:effectLst/>
                <a:uFillTx/>
                <a:latin typeface="Calibri"/>
                <a:ea typeface="Calibri"/>
              </a:rPr>
              <a:t>npm</a:t>
            </a:r>
            <a:endParaRPr b="0" lang="pt-B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2" name="Text 10"/>
          <p:cNvSpPr/>
          <p:nvPr/>
        </p:nvSpPr>
        <p:spPr>
          <a:xfrm>
            <a:off x="4892040" y="1508760"/>
            <a:ext cx="393120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sng">
                <a:solidFill>
                  <a:srgbClr val="2244aa"/>
                </a:solidFill>
                <a:effectLst/>
                <a:uFillTx/>
                <a:latin typeface="Courier New"/>
                <a:ea typeface="Courier New"/>
              </a:rPr>
              <a:t>docs.npmjs.com/cli/v10/commands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3" name="Shape 11"/>
          <p:cNvSpPr/>
          <p:nvPr/>
        </p:nvSpPr>
        <p:spPr>
          <a:xfrm>
            <a:off x="274320" y="2103120"/>
            <a:ext cx="4159800" cy="749160"/>
          </a:xfrm>
          <a:prstGeom prst="rect">
            <a:avLst/>
          </a:prstGeom>
          <a:solidFill>
            <a:srgbClr val="ebf0fa"/>
          </a:solidFill>
          <a:ln w="12700">
            <a:solidFill>
              <a:srgbClr val="c8d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4" name="Shape 12"/>
          <p:cNvSpPr/>
          <p:nvPr/>
        </p:nvSpPr>
        <p:spPr>
          <a:xfrm>
            <a:off x="274320" y="2103120"/>
            <a:ext cx="45000" cy="7491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5" name="Text 13"/>
          <p:cNvSpPr/>
          <p:nvPr/>
        </p:nvSpPr>
        <p:spPr>
          <a:xfrm>
            <a:off x="411480" y="2148840"/>
            <a:ext cx="39312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c0392b"/>
                </a:solidFill>
                <a:effectLst/>
                <a:uFillTx/>
                <a:latin typeface="Calibri"/>
                <a:ea typeface="Calibri"/>
              </a:rPr>
              <a:t>Git</a:t>
            </a:r>
            <a:endParaRPr b="0" lang="pt-B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6" name="Text 14"/>
          <p:cNvSpPr/>
          <p:nvPr/>
        </p:nvSpPr>
        <p:spPr>
          <a:xfrm>
            <a:off x="411480" y="2423160"/>
            <a:ext cx="393120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sng">
                <a:solidFill>
                  <a:srgbClr val="2244aa"/>
                </a:solidFill>
                <a:effectLst/>
                <a:uFillTx/>
                <a:latin typeface="Courier New"/>
                <a:ea typeface="Courier New"/>
              </a:rPr>
              <a:t>git-scm.com/book/pt-br/v2  (Pro Git em português)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7" name="Shape 15"/>
          <p:cNvSpPr/>
          <p:nvPr/>
        </p:nvSpPr>
        <p:spPr>
          <a:xfrm>
            <a:off x="4754880" y="2103120"/>
            <a:ext cx="4159800" cy="749160"/>
          </a:xfrm>
          <a:prstGeom prst="rect">
            <a:avLst/>
          </a:prstGeom>
          <a:solidFill>
            <a:srgbClr val="ebf0fa"/>
          </a:solidFill>
          <a:ln w="12700">
            <a:solidFill>
              <a:srgbClr val="c8d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8" name="Shape 16"/>
          <p:cNvSpPr/>
          <p:nvPr/>
        </p:nvSpPr>
        <p:spPr>
          <a:xfrm>
            <a:off x="4754880" y="2103120"/>
            <a:ext cx="45000" cy="74916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9" name="Text 17"/>
          <p:cNvSpPr/>
          <p:nvPr/>
        </p:nvSpPr>
        <p:spPr>
          <a:xfrm>
            <a:off x="4892040" y="2148840"/>
            <a:ext cx="39312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27ae60"/>
                </a:solidFill>
                <a:effectLst/>
                <a:uFillTx/>
                <a:latin typeface="Calibri"/>
                <a:ea typeface="Calibri"/>
              </a:rPr>
              <a:t>Git interativo</a:t>
            </a:r>
            <a:endParaRPr b="0" lang="pt-B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0" name="Text 18"/>
          <p:cNvSpPr/>
          <p:nvPr/>
        </p:nvSpPr>
        <p:spPr>
          <a:xfrm>
            <a:off x="4892040" y="2423160"/>
            <a:ext cx="393120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sng">
                <a:solidFill>
                  <a:srgbClr val="2244aa"/>
                </a:solidFill>
                <a:effectLst/>
                <a:uFillTx/>
                <a:latin typeface="Courier New"/>
                <a:ea typeface="Courier New"/>
              </a:rPr>
              <a:t>learngitbranching.js.org/?locale=pt_BR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1" name="Shape 19"/>
          <p:cNvSpPr/>
          <p:nvPr/>
        </p:nvSpPr>
        <p:spPr>
          <a:xfrm>
            <a:off x="274320" y="3017520"/>
            <a:ext cx="4159800" cy="749160"/>
          </a:xfrm>
          <a:prstGeom prst="rect">
            <a:avLst/>
          </a:prstGeom>
          <a:solidFill>
            <a:srgbClr val="ebf0fa"/>
          </a:solidFill>
          <a:ln w="12700">
            <a:solidFill>
              <a:srgbClr val="c8d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2" name="Shape 20"/>
          <p:cNvSpPr/>
          <p:nvPr/>
        </p:nvSpPr>
        <p:spPr>
          <a:xfrm>
            <a:off x="274320" y="3017520"/>
            <a:ext cx="45000" cy="749160"/>
          </a:xfrm>
          <a:prstGeom prst="rect">
            <a:avLst/>
          </a:prstGeom>
          <a:solidFill>
            <a:srgbClr val="4b32c3"/>
          </a:solidFill>
          <a:ln w="12700">
            <a:solidFill>
              <a:srgbClr val="4b32c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3" name="Text 21"/>
          <p:cNvSpPr/>
          <p:nvPr/>
        </p:nvSpPr>
        <p:spPr>
          <a:xfrm>
            <a:off x="411480" y="3063240"/>
            <a:ext cx="39312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4b32c3"/>
                </a:solidFill>
                <a:effectLst/>
                <a:uFillTx/>
                <a:latin typeface="Calibri"/>
                <a:ea typeface="Calibri"/>
              </a:rPr>
              <a:t>ESLint</a:t>
            </a:r>
            <a:endParaRPr b="0" lang="pt-B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4" name="Text 22"/>
          <p:cNvSpPr/>
          <p:nvPr/>
        </p:nvSpPr>
        <p:spPr>
          <a:xfrm>
            <a:off x="411480" y="3337560"/>
            <a:ext cx="393120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sng">
                <a:solidFill>
                  <a:srgbClr val="2244aa"/>
                </a:solidFill>
                <a:effectLst/>
                <a:uFillTx/>
                <a:latin typeface="Courier New"/>
                <a:ea typeface="Courier New"/>
              </a:rPr>
              <a:t>eslint.org/docs/latest/use/getting-started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5" name="Shape 23"/>
          <p:cNvSpPr/>
          <p:nvPr/>
        </p:nvSpPr>
        <p:spPr>
          <a:xfrm>
            <a:off x="4754880" y="3017520"/>
            <a:ext cx="4159800" cy="749160"/>
          </a:xfrm>
          <a:prstGeom prst="rect">
            <a:avLst/>
          </a:prstGeom>
          <a:solidFill>
            <a:srgbClr val="ebf0fa"/>
          </a:solidFill>
          <a:ln w="12700">
            <a:solidFill>
              <a:srgbClr val="c8d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6" name="Shape 24"/>
          <p:cNvSpPr/>
          <p:nvPr/>
        </p:nvSpPr>
        <p:spPr>
          <a:xfrm>
            <a:off x="4754880" y="3017520"/>
            <a:ext cx="45000" cy="74916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7" name="Text 25"/>
          <p:cNvSpPr/>
          <p:nvPr/>
        </p:nvSpPr>
        <p:spPr>
          <a:xfrm>
            <a:off x="4892040" y="3063240"/>
            <a:ext cx="39312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e67e22"/>
                </a:solidFill>
                <a:effectLst/>
                <a:uFillTx/>
                <a:latin typeface="Calibri"/>
                <a:ea typeface="Calibri"/>
              </a:rPr>
              <a:t>Prettier</a:t>
            </a:r>
            <a:endParaRPr b="0" lang="pt-B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8" name="Text 26"/>
          <p:cNvSpPr/>
          <p:nvPr/>
        </p:nvSpPr>
        <p:spPr>
          <a:xfrm>
            <a:off x="4892040" y="3337560"/>
            <a:ext cx="393120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sng">
                <a:solidFill>
                  <a:srgbClr val="2244aa"/>
                </a:solidFill>
                <a:effectLst/>
                <a:uFillTx/>
                <a:latin typeface="Courier New"/>
                <a:ea typeface="Courier New"/>
              </a:rPr>
              <a:t>prettier.io/docs/en/install.html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9" name="Shape 27"/>
          <p:cNvSpPr/>
          <p:nvPr/>
        </p:nvSpPr>
        <p:spPr>
          <a:xfrm>
            <a:off x="274320" y="3931920"/>
            <a:ext cx="4159800" cy="749160"/>
          </a:xfrm>
          <a:prstGeom prst="rect">
            <a:avLst/>
          </a:prstGeom>
          <a:solidFill>
            <a:srgbClr val="ebf0fa"/>
          </a:solidFill>
          <a:ln w="12700">
            <a:solidFill>
              <a:srgbClr val="c8d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0" name="Shape 28"/>
          <p:cNvSpPr/>
          <p:nvPr/>
        </p:nvSpPr>
        <p:spPr>
          <a:xfrm>
            <a:off x="274320" y="3931920"/>
            <a:ext cx="45000" cy="74916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1" name="Text 29"/>
          <p:cNvSpPr/>
          <p:nvPr/>
        </p:nvSpPr>
        <p:spPr>
          <a:xfrm>
            <a:off x="411480" y="3977640"/>
            <a:ext cx="39312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1a7a4a"/>
                </a:solidFill>
                <a:effectLst/>
                <a:uFillTx/>
                <a:latin typeface="Calibri"/>
                <a:ea typeface="Calibri"/>
              </a:rPr>
              <a:t>Vite</a:t>
            </a:r>
            <a:endParaRPr b="0" lang="pt-B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2" name="Text 30"/>
          <p:cNvSpPr/>
          <p:nvPr/>
        </p:nvSpPr>
        <p:spPr>
          <a:xfrm>
            <a:off x="411480" y="4251960"/>
            <a:ext cx="393120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sng">
                <a:solidFill>
                  <a:srgbClr val="2244aa"/>
                </a:solidFill>
                <a:effectLst/>
                <a:uFillTx/>
                <a:latin typeface="Courier New"/>
                <a:ea typeface="Courier New"/>
              </a:rPr>
              <a:t>vitejs.dev/guide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3" name="Shape 31"/>
          <p:cNvSpPr/>
          <p:nvPr/>
        </p:nvSpPr>
        <p:spPr>
          <a:xfrm>
            <a:off x="4754880" y="3931920"/>
            <a:ext cx="4159800" cy="749160"/>
          </a:xfrm>
          <a:prstGeom prst="rect">
            <a:avLst/>
          </a:prstGeom>
          <a:solidFill>
            <a:srgbClr val="ebf0fa"/>
          </a:solidFill>
          <a:ln w="12700">
            <a:solidFill>
              <a:srgbClr val="c8d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4" name="Shape 32"/>
          <p:cNvSpPr/>
          <p:nvPr/>
        </p:nvSpPr>
        <p:spPr>
          <a:xfrm>
            <a:off x="4754880" y="3931920"/>
            <a:ext cx="45000" cy="74916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5" name="Text 33"/>
          <p:cNvSpPr/>
          <p:nvPr/>
        </p:nvSpPr>
        <p:spPr>
          <a:xfrm>
            <a:off x="4892040" y="3977640"/>
            <a:ext cx="39312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8e44ad"/>
                </a:solidFill>
                <a:effectLst/>
                <a:uFillTx/>
                <a:latin typeface="Calibri"/>
                <a:ea typeface="Calibri"/>
              </a:rPr>
              <a:t>Commits</a:t>
            </a:r>
            <a:endParaRPr b="0" lang="pt-B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6" name="Text 34"/>
          <p:cNvSpPr/>
          <p:nvPr/>
        </p:nvSpPr>
        <p:spPr>
          <a:xfrm>
            <a:off x="4892040" y="4251960"/>
            <a:ext cx="393120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sng">
                <a:solidFill>
                  <a:srgbClr val="2244aa"/>
                </a:solidFill>
                <a:effectLst/>
                <a:uFillTx/>
                <a:latin typeface="Courier New"/>
                <a:ea typeface="Courier New"/>
              </a:rPr>
              <a:t>conventionalcommits.org/pt-br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7" name="Text 35"/>
          <p:cNvSpPr/>
          <p:nvPr/>
        </p:nvSpPr>
        <p:spPr>
          <a:xfrm>
            <a:off x="8412480" y="4754880"/>
            <a:ext cx="6393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9aaac0"/>
                </a:solidFill>
                <a:effectLst/>
                <a:uFillTx/>
                <a:latin typeface="Calibri"/>
                <a:ea typeface="Calibri"/>
              </a:rPr>
              <a:t>17 / 18</a:t>
            </a:r>
            <a:endParaRPr b="0" lang="pt-B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Shape 0"/>
          <p:cNvSpPr/>
          <p:nvPr/>
        </p:nvSpPr>
        <p:spPr>
          <a:xfrm>
            <a:off x="-914400" y="3200400"/>
            <a:ext cx="4571280" cy="4571280"/>
          </a:xfrm>
          <a:prstGeom prst="ellipse">
            <a:avLst/>
          </a:prstGeom>
          <a:solidFill>
            <a:srgbClr val="1b3a6b">
              <a:alpha val="30000"/>
            </a:srgbClr>
          </a:solidFill>
          <a:ln w="12700">
            <a:solidFill>
              <a:srgbClr val="1b3a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9" name="Shape 1"/>
          <p:cNvSpPr/>
          <p:nvPr/>
        </p:nvSpPr>
        <p:spPr>
          <a:xfrm>
            <a:off x="6400800" y="-914400"/>
            <a:ext cx="4114080" cy="4114080"/>
          </a:xfrm>
          <a:prstGeom prst="ellipse">
            <a:avLst/>
          </a:prstGeom>
          <a:solidFill>
            <a:srgbClr val="e87722">
              <a:alpha val="20000"/>
            </a:srgbClr>
          </a:solidFill>
          <a:ln w="12700">
            <a:solidFill>
              <a:srgbClr val="e877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0" name="Text 2"/>
          <p:cNvSpPr/>
          <p:nvPr/>
        </p:nvSpPr>
        <p:spPr>
          <a:xfrm>
            <a:off x="914400" y="548640"/>
            <a:ext cx="73144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400" strike="noStrike" u="none">
                <a:solidFill>
                  <a:srgbClr val="e87722"/>
                </a:solidFill>
                <a:effectLst/>
                <a:uFillTx/>
                <a:latin typeface="Trebuchet MS"/>
                <a:ea typeface="Trebuchet MS"/>
              </a:rPr>
              <a:t>Recapitulando</a:t>
            </a:r>
            <a:endParaRPr b="0" lang="pt-BR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1" name="Text 3"/>
          <p:cNvSpPr/>
          <p:nvPr/>
        </p:nvSpPr>
        <p:spPr>
          <a:xfrm>
            <a:off x="731520" y="1097280"/>
            <a:ext cx="7680240" cy="137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400" strike="noStrike" u="non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Você agora tem um ambiente</a:t>
            </a:r>
            <a:endParaRPr b="0" lang="pt-BR" sz="3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400" strike="noStrike" u="non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de desenvolvimento profissional</a:t>
            </a:r>
            <a:endParaRPr b="0" lang="pt-BR" sz="3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2" name="Shape 4"/>
          <p:cNvSpPr/>
          <p:nvPr/>
        </p:nvSpPr>
        <p:spPr>
          <a:xfrm>
            <a:off x="914400" y="2697480"/>
            <a:ext cx="1142280" cy="474840"/>
          </a:xfrm>
          <a:prstGeom prst="rect">
            <a:avLst/>
          </a:prstGeom>
          <a:solidFill>
            <a:srgbClr val="162b50"/>
          </a:solidFill>
          <a:ln w="12700">
            <a:solidFill>
              <a:srgbClr val="2ecc7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3" name="Text 5"/>
          <p:cNvSpPr/>
          <p:nvPr/>
        </p:nvSpPr>
        <p:spPr>
          <a:xfrm>
            <a:off x="914400" y="2697480"/>
            <a:ext cx="114228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2ecc71"/>
                </a:solidFill>
                <a:effectLst/>
                <a:uFillTx/>
                <a:latin typeface="Trebuchet MS"/>
                <a:ea typeface="Trebuchet MS"/>
              </a:rPr>
              <a:t>npm</a:t>
            </a:r>
            <a:endParaRPr b="0" lang="pt-BR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4" name="Shape 6"/>
          <p:cNvSpPr/>
          <p:nvPr/>
        </p:nvSpPr>
        <p:spPr>
          <a:xfrm>
            <a:off x="2194560" y="2697480"/>
            <a:ext cx="1142280" cy="474840"/>
          </a:xfrm>
          <a:prstGeom prst="rect">
            <a:avLst/>
          </a:prstGeom>
          <a:solidFill>
            <a:srgbClr val="162b50"/>
          </a:solidFill>
          <a:ln w="12700">
            <a:solidFill>
              <a:srgbClr val="e877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5" name="Text 7"/>
          <p:cNvSpPr/>
          <p:nvPr/>
        </p:nvSpPr>
        <p:spPr>
          <a:xfrm>
            <a:off x="2194560" y="2697480"/>
            <a:ext cx="114228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e87722"/>
                </a:solidFill>
                <a:effectLst/>
                <a:uFillTx/>
                <a:latin typeface="Trebuchet MS"/>
                <a:ea typeface="Trebuchet MS"/>
              </a:rPr>
              <a:t>Git</a:t>
            </a:r>
            <a:endParaRPr b="0" lang="pt-BR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6" name="Shape 8"/>
          <p:cNvSpPr/>
          <p:nvPr/>
        </p:nvSpPr>
        <p:spPr>
          <a:xfrm>
            <a:off x="3474720" y="2697480"/>
            <a:ext cx="1142280" cy="474840"/>
          </a:xfrm>
          <a:prstGeom prst="rect">
            <a:avLst/>
          </a:prstGeom>
          <a:solidFill>
            <a:srgbClr val="162b50"/>
          </a:solidFill>
          <a:ln w="12700">
            <a:solidFill>
              <a:srgbClr val="4b9f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7" name="Text 9"/>
          <p:cNvSpPr/>
          <p:nvPr/>
        </p:nvSpPr>
        <p:spPr>
          <a:xfrm>
            <a:off x="3474720" y="2697480"/>
            <a:ext cx="114228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4b9fd4"/>
                </a:solidFill>
                <a:effectLst/>
                <a:uFillTx/>
                <a:latin typeface="Trebuchet MS"/>
                <a:ea typeface="Trebuchet MS"/>
              </a:rPr>
              <a:t>VS Code</a:t>
            </a:r>
            <a:endParaRPr b="0" lang="pt-BR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8" name="Shape 10"/>
          <p:cNvSpPr/>
          <p:nvPr/>
        </p:nvSpPr>
        <p:spPr>
          <a:xfrm>
            <a:off x="4754880" y="2697480"/>
            <a:ext cx="1142280" cy="474840"/>
          </a:xfrm>
          <a:prstGeom prst="rect">
            <a:avLst/>
          </a:prstGeom>
          <a:solidFill>
            <a:srgbClr val="162b50"/>
          </a:solidFill>
          <a:ln w="12700">
            <a:solidFill>
              <a:srgbClr val="4b32c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9" name="Text 11"/>
          <p:cNvSpPr/>
          <p:nvPr/>
        </p:nvSpPr>
        <p:spPr>
          <a:xfrm>
            <a:off x="4754880" y="2697480"/>
            <a:ext cx="114228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4b32c3"/>
                </a:solidFill>
                <a:effectLst/>
                <a:uFillTx/>
                <a:latin typeface="Trebuchet MS"/>
                <a:ea typeface="Trebuchet MS"/>
              </a:rPr>
              <a:t>ESLint</a:t>
            </a:r>
            <a:endParaRPr b="0" lang="pt-BR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0" name="Shape 12"/>
          <p:cNvSpPr/>
          <p:nvPr/>
        </p:nvSpPr>
        <p:spPr>
          <a:xfrm>
            <a:off x="6035040" y="2697480"/>
            <a:ext cx="1142280" cy="474840"/>
          </a:xfrm>
          <a:prstGeom prst="rect">
            <a:avLst/>
          </a:prstGeom>
          <a:solidFill>
            <a:srgbClr val="162b50"/>
          </a:solidFill>
          <a:ln w="12700">
            <a:solidFill>
              <a:srgbClr val="e877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1" name="Text 13"/>
          <p:cNvSpPr/>
          <p:nvPr/>
        </p:nvSpPr>
        <p:spPr>
          <a:xfrm>
            <a:off x="6035040" y="2697480"/>
            <a:ext cx="114228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e87722"/>
                </a:solidFill>
                <a:effectLst/>
                <a:uFillTx/>
                <a:latin typeface="Trebuchet MS"/>
                <a:ea typeface="Trebuchet MS"/>
              </a:rPr>
              <a:t>Prettier</a:t>
            </a:r>
            <a:endParaRPr b="0" lang="pt-BR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2" name="Shape 14"/>
          <p:cNvSpPr/>
          <p:nvPr/>
        </p:nvSpPr>
        <p:spPr>
          <a:xfrm>
            <a:off x="7315200" y="2697480"/>
            <a:ext cx="1142280" cy="474840"/>
          </a:xfrm>
          <a:prstGeom prst="rect">
            <a:avLst/>
          </a:prstGeom>
          <a:solidFill>
            <a:srgbClr val="162b50"/>
          </a:solidFill>
          <a:ln w="12700">
            <a:solidFill>
              <a:srgbClr val="2ecc7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3" name="Text 15"/>
          <p:cNvSpPr/>
          <p:nvPr/>
        </p:nvSpPr>
        <p:spPr>
          <a:xfrm>
            <a:off x="7315200" y="2697480"/>
            <a:ext cx="114228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2ecc71"/>
                </a:solidFill>
                <a:effectLst/>
                <a:uFillTx/>
                <a:latin typeface="Trebuchet MS"/>
                <a:ea typeface="Trebuchet MS"/>
              </a:rPr>
              <a:t>Vite</a:t>
            </a:r>
            <a:endParaRPr b="0" lang="pt-BR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</TotalTime>
  <Application>LibreOffice/25.2.3.2$Linux_X86_64 LibreOffice_project/520$Build-2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2026-03-22T00:53:00Z</dcterms:created>
  <dc:creator>PptxGenJS</dc:creator>
  <dc:description/>
  <dc:language>pt-BR</dc:language>
  <cp:lastModifiedBy/>
  <dcterms:modified xsi:type="dcterms:W3CDTF">2026-03-24T16:28:06Z</dcterms:modified>
  <cp:revision>7</cp:revision>
  <dc:subject>PptxGenJS Presentation</dc:subject>
  <dc:title>Ferramentas de Desenvolvimento Moderno — Aula 2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18</vt:i4>
  </property>
  <property fmtid="{D5CDD505-2E9C-101B-9397-08002B2CF9AE}" pid="3" name="PresentationFormat">
    <vt:lpwstr>On-screen Show (16:9)</vt:lpwstr>
  </property>
  <property fmtid="{D5CDD505-2E9C-101B-9397-08002B2CF9AE}" pid="4" name="Slides">
    <vt:i4>18</vt:i4>
  </property>
</Properties>
</file>