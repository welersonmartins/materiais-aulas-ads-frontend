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9EF894B-1FEC-4A54-8FEF-AF4ED31459F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25AA53-4A83-4CB9-A023-8EA3F9550FD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8B33F7-70C8-4AD0-8BD0-891A730E718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F92CFF-3058-487D-9DB0-486B86BC139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AEAF4A-2FE3-4B53-A608-E8F0B85A5EB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87A37B-E126-4CF0-BE06-60317470F77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09342A-3406-411F-92B0-35FDA7E25DD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E6EC86-62C8-4BC4-8779-075DD5C2360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20EE07-A626-4890-AC96-B7560194B2D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1F7053-EDBF-4897-9D8D-FFE5DE5A906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2D5110-555A-40AE-B17C-4784D0337AD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CB72A8-1E21-4945-81A7-9E634A416E0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1"/>
          <a:stretch/>
        </p:blipFill>
        <p:spPr>
          <a:xfrm>
            <a:off x="6583680" y="457200"/>
            <a:ext cx="2194200" cy="219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Shape 0"/>
          <p:cNvSpPr/>
          <p:nvPr/>
        </p:nvSpPr>
        <p:spPr>
          <a:xfrm>
            <a:off x="0" y="0"/>
            <a:ext cx="72720" cy="514332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274320" y="36576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99" strike="noStrike" u="none">
                <a:solidFill>
                  <a:srgbClr val="cc6699"/>
                </a:solidFill>
                <a:effectLst/>
                <a:uFillTx/>
                <a:latin typeface="Trebuchet MS"/>
                <a:ea typeface="Trebuchet MS"/>
              </a:rPr>
              <a:t>REVISÃO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274320" y="822960"/>
            <a:ext cx="6400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4a742"/>
                </a:solidFill>
                <a:effectLst/>
                <a:uFillTx/>
                <a:latin typeface="Trebuchet MS"/>
                <a:ea typeface="Trebuchet MS"/>
              </a:rPr>
              <a:t>Aula 3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274320" y="1508760"/>
            <a:ext cx="6400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Sass/LESS e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CSS Avançado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274320" y="3063240"/>
            <a:ext cx="6217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Pré-processadores · Variáveis · Nesting · Mixins · Custom Properties · Temas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331560" y="3600000"/>
            <a:ext cx="1828440" cy="34704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331560" y="361296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Variáveis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2311560" y="3612960"/>
            <a:ext cx="1828440" cy="34704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2311560" y="361296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Nesting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259880" y="3612960"/>
            <a:ext cx="1828440" cy="34704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259880" y="361296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Mixins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271560" y="3612960"/>
            <a:ext cx="1828440" cy="34704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271560" y="361296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Custom Props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274320" y="4754880"/>
            <a:ext cx="868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Disciplina de Desenvolvimento Frontend  ·  3h</a:t>
            </a:r>
            <a:endParaRPr b="0" lang="pt-BR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320040" y="164520"/>
            <a:ext cx="968760" cy="25560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320040" y="173880"/>
            <a:ext cx="968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 FLOW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320040" y="5029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d1b2a"/>
                </a:solidFill>
                <a:effectLst/>
                <a:uFillTx/>
                <a:latin typeface="Trebuchet MS"/>
                <a:ea typeface="Trebuchet MS"/>
              </a:rPr>
              <a:t>Antes de codar: organize o repositório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365760" y="1234440"/>
            <a:ext cx="1919880" cy="2102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6b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1051560" y="1097280"/>
            <a:ext cx="548280" cy="5482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1051560" y="1097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1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457200" y="157284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git checkout main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457200" y="2194560"/>
            <a:ext cx="1737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Voltar para a main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2286000" y="2240280"/>
            <a:ext cx="228240" cy="5436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2450520" y="2148840"/>
            <a:ext cx="182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c6699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0"/>
          <p:cNvSpPr/>
          <p:nvPr/>
        </p:nvSpPr>
        <p:spPr>
          <a:xfrm>
            <a:off x="2514600" y="1234440"/>
            <a:ext cx="1919880" cy="2102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6b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1"/>
          <p:cNvSpPr/>
          <p:nvPr/>
        </p:nvSpPr>
        <p:spPr>
          <a:xfrm>
            <a:off x="3200400" y="1097280"/>
            <a:ext cx="548280" cy="5482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3200400" y="1097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2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2606040" y="157284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git merge feature-aula2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2606040" y="2194560"/>
            <a:ext cx="1737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Merge da Aula 2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4434840" y="2240280"/>
            <a:ext cx="228240" cy="5436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4599360" y="2148840"/>
            <a:ext cx="182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c6699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7"/>
          <p:cNvSpPr/>
          <p:nvPr/>
        </p:nvSpPr>
        <p:spPr>
          <a:xfrm>
            <a:off x="4663440" y="1234440"/>
            <a:ext cx="1919880" cy="2102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6b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8"/>
          <p:cNvSpPr/>
          <p:nvPr/>
        </p:nvSpPr>
        <p:spPr>
          <a:xfrm>
            <a:off x="5349240" y="1097280"/>
            <a:ext cx="548280" cy="5482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9"/>
          <p:cNvSpPr/>
          <p:nvPr/>
        </p:nvSpPr>
        <p:spPr>
          <a:xfrm>
            <a:off x="5349240" y="1097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3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0"/>
          <p:cNvSpPr/>
          <p:nvPr/>
        </p:nvSpPr>
        <p:spPr>
          <a:xfrm>
            <a:off x="4754880" y="157284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git push origin main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4754880" y="2194560"/>
            <a:ext cx="1737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Atualizar GitHub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2"/>
          <p:cNvSpPr/>
          <p:nvPr/>
        </p:nvSpPr>
        <p:spPr>
          <a:xfrm>
            <a:off x="6583680" y="2240280"/>
            <a:ext cx="228240" cy="5436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3"/>
          <p:cNvSpPr/>
          <p:nvPr/>
        </p:nvSpPr>
        <p:spPr>
          <a:xfrm>
            <a:off x="6748200" y="2148840"/>
            <a:ext cx="182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c6699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4"/>
          <p:cNvSpPr/>
          <p:nvPr/>
        </p:nvSpPr>
        <p:spPr>
          <a:xfrm>
            <a:off x="6812280" y="1234440"/>
            <a:ext cx="1919880" cy="2102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6b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5"/>
          <p:cNvSpPr/>
          <p:nvPr/>
        </p:nvSpPr>
        <p:spPr>
          <a:xfrm>
            <a:off x="7498080" y="1097280"/>
            <a:ext cx="548280" cy="548280"/>
          </a:xfrm>
          <a:prstGeom prst="ellipse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7498080" y="1097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4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7"/>
          <p:cNvSpPr/>
          <p:nvPr/>
        </p:nvSpPr>
        <p:spPr>
          <a:xfrm>
            <a:off x="6903720" y="157284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f4a742"/>
                </a:solidFill>
                <a:effectLst/>
                <a:uFillTx/>
                <a:latin typeface="Courier New"/>
                <a:ea typeface="Courier New"/>
              </a:rPr>
              <a:t>git checkout -b feature-sass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8"/>
          <p:cNvSpPr/>
          <p:nvPr/>
        </p:nvSpPr>
        <p:spPr>
          <a:xfrm>
            <a:off x="6903720" y="2194560"/>
            <a:ext cx="1737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Nova branch da Aula 3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9"/>
          <p:cNvSpPr/>
          <p:nvPr/>
        </p:nvSpPr>
        <p:spPr>
          <a:xfrm>
            <a:off x="320040" y="3520440"/>
            <a:ext cx="8503560" cy="1416960"/>
          </a:xfrm>
          <a:prstGeom prst="rect">
            <a:avLst/>
          </a:prstGeom>
          <a:solidFill>
            <a:srgbClr val="e8eff8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30"/>
          <p:cNvSpPr/>
          <p:nvPr/>
        </p:nvSpPr>
        <p:spPr>
          <a:xfrm>
            <a:off x="320040" y="3520440"/>
            <a:ext cx="45360" cy="1416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1"/>
          <p:cNvSpPr/>
          <p:nvPr/>
        </p:nvSpPr>
        <p:spPr>
          <a:xfrm>
            <a:off x="502920" y="35935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d1b2a"/>
                </a:solidFill>
                <a:effectLst/>
                <a:uFillTx/>
                <a:latin typeface="Trebuchet MS"/>
                <a:ea typeface="Trebuchet MS"/>
              </a:rPr>
              <a:t>Convenção de commits nesta branch: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2"/>
          <p:cNvSpPr/>
          <p:nvPr/>
        </p:nvSpPr>
        <p:spPr>
          <a:xfrm>
            <a:off x="502920" y="3931920"/>
            <a:ext cx="8320680" cy="86832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3"/>
          <p:cNvSpPr/>
          <p:nvPr/>
        </p:nvSpPr>
        <p:spPr>
          <a:xfrm>
            <a:off x="640080" y="406908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git commit -m "feat: adiciona variáveis Sass ao projeto"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git commit -m "refactor: converte style.css para SCSS modular"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git commit -m "style: implementa tema dark com Custom Properties"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4"/>
          <p:cNvSpPr/>
          <p:nvPr/>
        </p:nvSpPr>
        <p:spPr>
          <a:xfrm>
            <a:off x="8412480" y="477324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3 / 14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54360" cy="514332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"/>
          <p:cNvSpPr/>
          <p:nvPr/>
        </p:nvSpPr>
        <p:spPr>
          <a:xfrm>
            <a:off x="320040" y="182880"/>
            <a:ext cx="1403280" cy="25560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320040" y="191880"/>
            <a:ext cx="1403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POR QUE SASS?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 0" descr="preencoded.png"/>
          <p:cNvPicPr/>
          <p:nvPr/>
        </p:nvPicPr>
        <p:blipFill>
          <a:blip r:embed="rId1"/>
          <a:stretch/>
        </p:blipFill>
        <p:spPr>
          <a:xfrm>
            <a:off x="7772400" y="274320"/>
            <a:ext cx="1096920" cy="109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3"/>
          <p:cNvSpPr/>
          <p:nvPr/>
        </p:nvSpPr>
        <p:spPr>
          <a:xfrm>
            <a:off x="320040" y="457200"/>
            <a:ext cx="6857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O CSS puro tem limites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4"/>
          <p:cNvSpPr/>
          <p:nvPr/>
        </p:nvSpPr>
        <p:spPr>
          <a:xfrm>
            <a:off x="228600" y="1143000"/>
            <a:ext cx="4114440" cy="352008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365760" y="123444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74c3c"/>
                </a:solidFill>
                <a:effectLst/>
                <a:uFillTx/>
                <a:latin typeface="Trebuchet MS"/>
                <a:ea typeface="Trebuchet MS"/>
              </a:rPr>
              <a:t>style.css  —  ANTES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6"/>
          <p:cNvSpPr/>
          <p:nvPr/>
        </p:nvSpPr>
        <p:spPr>
          <a:xfrm>
            <a:off x="320040" y="1627560"/>
            <a:ext cx="3977280" cy="288000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457200" y="1764720"/>
            <a:ext cx="370296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#slider .carousel-item img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height: 500px;      /* ??? */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object-fit: cover;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.img-produto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height: 220px;      /* ??? */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object-fit: cover;  /* rep. */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8"/>
          <p:cNvSpPr/>
          <p:nvPr/>
        </p:nvSpPr>
        <p:spPr>
          <a:xfrm>
            <a:off x="4617720" y="1143000"/>
            <a:ext cx="4297320" cy="352008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9"/>
          <p:cNvSpPr/>
          <p:nvPr/>
        </p:nvSpPr>
        <p:spPr>
          <a:xfrm>
            <a:off x="4754880" y="123444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ecc71"/>
                </a:solidFill>
                <a:effectLst/>
                <a:uFillTx/>
                <a:latin typeface="Trebuchet MS"/>
                <a:ea typeface="Trebuchet MS"/>
              </a:rPr>
              <a:t>style.scss  —  DEPOIS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0"/>
          <p:cNvSpPr/>
          <p:nvPr/>
        </p:nvSpPr>
        <p:spPr>
          <a:xfrm>
            <a:off x="4709160" y="1627560"/>
            <a:ext cx="4114440" cy="288000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4846320" y="1764720"/>
            <a:ext cx="384012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$altura-carousel: 500px;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$altura-produto:  220px;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@mixin img-ajustada($h)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height: $h;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object-fit: cover;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#slider img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@include img-ajustada(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  $altura-carousel); 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2"/>
          <p:cNvSpPr/>
          <p:nvPr/>
        </p:nvSpPr>
        <p:spPr>
          <a:xfrm>
            <a:off x="8412480" y="477324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4 / 14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320040" y="164520"/>
            <a:ext cx="1490040" cy="25560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320040" y="173880"/>
            <a:ext cx="149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VARIÁVEIS SASS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320040" y="5029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d1b2a"/>
                </a:solidFill>
                <a:effectLst/>
                <a:uFillTx/>
                <a:latin typeface="Trebuchet MS"/>
                <a:ea typeface="Trebuchet MS"/>
              </a:rPr>
              <a:t>$variavel — valores com nome e significado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"/>
          <p:cNvSpPr/>
          <p:nvPr/>
        </p:nvSpPr>
        <p:spPr>
          <a:xfrm>
            <a:off x="320040" y="1143000"/>
            <a:ext cx="4937400" cy="338292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457200" y="128016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// _variaveis.scss — arquivo central de tokens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$cor-primaria:      #0d6efd;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$cor-primaria-hover: darken($cor-primaria, 10%);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$altura-carousel:   500px;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$altura-produto:    220px;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$raio-card:         8px;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// Custom Properties geradas a partir das variáveis Sass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:root {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--ts-fundo:   #{$cor-fundo-light};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--ts-primaria: #{$cor-primaria};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7" name="Table 0"/>
          <p:cNvGraphicFramePr/>
          <p:nvPr/>
        </p:nvGraphicFramePr>
        <p:xfrm>
          <a:off x="5440680" y="1143000"/>
          <a:ext cx="3382920" cy="338292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005840"/>
              </a:tblGrid>
              <a:tr h="676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Critério</a:t>
                      </a:r>
                      <a:endParaRPr b="0" lang="pt-BR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$sass-var</a:t>
                      </a:r>
                      <a:endParaRPr b="0" lang="pt-BR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8a306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--css-var</a:t>
                      </a:r>
                      <a:endParaRPr b="0" lang="pt-BR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1a5276"/>
                    </a:solidFill>
                  </a:tcPr>
                </a:tc>
              </a:tr>
              <a:tr h="676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Existe após o build?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Não — resolvida no build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8f0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 — existe em runtime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8f0f6"/>
                    </a:solidFill>
                  </a:tcPr>
                </a:tc>
              </a:tr>
              <a:tr h="676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Pode mudar com JS?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Não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 — data-tema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Cálculos no build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 — darken(), math()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8f0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Limitado — calc()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8f0f6"/>
                    </a:solidFill>
                  </a:tcPr>
                </a:tc>
              </a:tr>
              <a:tr h="676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Uso ideal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Dimensões, breakpoints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Cores, temas, dark mode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8" name="Text 5"/>
          <p:cNvSpPr/>
          <p:nvPr/>
        </p:nvSpPr>
        <p:spPr>
          <a:xfrm>
            <a:off x="8412480" y="477324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5 / 14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54360" cy="514332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320040" y="182880"/>
            <a:ext cx="882000" cy="25560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320040" y="191880"/>
            <a:ext cx="882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NESTING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320040" y="45720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Hierarquia visual que espelha o HTML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4"/>
          <p:cNvSpPr/>
          <p:nvPr/>
        </p:nvSpPr>
        <p:spPr>
          <a:xfrm>
            <a:off x="228600" y="1143000"/>
            <a:ext cx="4114440" cy="255996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365760" y="12160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74c3c"/>
                </a:solidFill>
                <a:effectLst/>
                <a:uFillTx/>
                <a:latin typeface="Trebuchet MS"/>
                <a:ea typeface="Trebuchet MS"/>
              </a:rPr>
              <a:t>CSS puro — repetição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6"/>
          <p:cNvSpPr/>
          <p:nvPr/>
        </p:nvSpPr>
        <p:spPr>
          <a:xfrm>
            <a:off x="320040" y="1572840"/>
            <a:ext cx="3977280" cy="201132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457200" y="1710000"/>
            <a:ext cx="3702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#slider .carousel-item img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height: 500px;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#slider .carousel-caption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background: rgba(0,0,0,.5);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8"/>
          <p:cNvSpPr/>
          <p:nvPr/>
        </p:nvSpPr>
        <p:spPr>
          <a:xfrm>
            <a:off x="4572000" y="1143000"/>
            <a:ext cx="4343040" cy="255996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4709160" y="1216080"/>
            <a:ext cx="4068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ecc71"/>
                </a:solidFill>
                <a:effectLst/>
                <a:uFillTx/>
                <a:latin typeface="Trebuchet MS"/>
                <a:ea typeface="Trebuchet MS"/>
              </a:rPr>
              <a:t>SCSS — hierarquia limpa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0"/>
          <p:cNvSpPr/>
          <p:nvPr/>
        </p:nvSpPr>
        <p:spPr>
          <a:xfrm>
            <a:off x="4663440" y="1572840"/>
            <a:ext cx="4205880" cy="201132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4800600" y="1710000"/>
            <a:ext cx="39315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#slider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.carousel-item img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  height: $altura-carousel;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.carousel-caption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  background: rgba(0,0,0,.5);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2"/>
          <p:cNvSpPr/>
          <p:nvPr/>
        </p:nvSpPr>
        <p:spPr>
          <a:xfrm>
            <a:off x="228600" y="3840480"/>
            <a:ext cx="8686440" cy="109692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411480" y="391356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O seletor &amp;  (parent selector):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4"/>
          <p:cNvSpPr/>
          <p:nvPr/>
        </p:nvSpPr>
        <p:spPr>
          <a:xfrm>
            <a:off x="3474720" y="3913560"/>
            <a:ext cx="5303160" cy="91404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3611880" y="4050720"/>
            <a:ext cx="502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.btn-primary { background: $cor-primaria;   &amp;:hover { background: darken($cor-primaria, 10%); }   &amp;:active { transform: scale(0.98); } 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6"/>
          <p:cNvSpPr/>
          <p:nvPr/>
        </p:nvSpPr>
        <p:spPr>
          <a:xfrm>
            <a:off x="8412480" y="477324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6 / 14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320040" y="164520"/>
            <a:ext cx="1577160" cy="25560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320040" y="173880"/>
            <a:ext cx="157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PARCIAIS &amp; @USE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320040" y="5029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d1b2a"/>
                </a:solidFill>
                <a:effectLst/>
                <a:uFillTx/>
                <a:latin typeface="Trebuchet MS"/>
                <a:ea typeface="Trebuchet MS"/>
              </a:rPr>
              <a:t>Organize o SCSS como o código JavaScript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320040" y="1143000"/>
            <a:ext cx="3017160" cy="365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457200" y="12344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4a742"/>
                </a:solidFill>
                <a:effectLst/>
                <a:uFillTx/>
                <a:latin typeface="Trebuchet MS"/>
                <a:ea typeface="Trebuchet MS"/>
              </a:rPr>
              <a:t>Estrutura de arquivos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5"/>
          <p:cNvSpPr/>
          <p:nvPr/>
        </p:nvSpPr>
        <p:spPr>
          <a:xfrm>
            <a:off x="457200" y="1600200"/>
            <a:ext cx="2788560" cy="306288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594360" y="1737360"/>
            <a:ext cx="251424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scss/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├── _variaveis.scss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├── _navbar.scss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├── _carousel.scss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├── _cards.scss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├── _contato.scss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└── style.scss ← principal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7"/>
          <p:cNvSpPr/>
          <p:nvPr/>
        </p:nvSpPr>
        <p:spPr>
          <a:xfrm>
            <a:off x="3520440" y="1143000"/>
            <a:ext cx="5303160" cy="365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3657600" y="123444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ecc71"/>
                </a:solidFill>
                <a:effectLst/>
                <a:uFillTx/>
                <a:latin typeface="Trebuchet MS"/>
                <a:ea typeface="Trebuchet MS"/>
              </a:rPr>
              <a:t>style.scss — apenas imports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9"/>
          <p:cNvSpPr/>
          <p:nvPr/>
        </p:nvSpPr>
        <p:spPr>
          <a:xfrm>
            <a:off x="3657600" y="1600200"/>
            <a:ext cx="5028840" cy="306288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0"/>
          <p:cNvSpPr/>
          <p:nvPr/>
        </p:nvSpPr>
        <p:spPr>
          <a:xfrm>
            <a:off x="3794760" y="1737360"/>
            <a:ext cx="475452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// Variáveis primeiro — os outros dependem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@use 'variaveis' as *;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// Componentes na ordem do HTML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@use 'navbar';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@use 'carousel';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@use 'cards';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@use 'contato';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// Estilos globais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body { background: var(--ts-fundo); }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1"/>
          <p:cNvSpPr/>
          <p:nvPr/>
        </p:nvSpPr>
        <p:spPr>
          <a:xfrm>
            <a:off x="320040" y="4892040"/>
            <a:ext cx="4205880" cy="360"/>
          </a:xfrm>
          <a:prstGeom prst="rect">
            <a:avLst/>
          </a:prstGeom>
          <a:solidFill>
            <a:srgbClr val="f4f6fa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2"/>
          <p:cNvSpPr/>
          <p:nvPr/>
        </p:nvSpPr>
        <p:spPr>
          <a:xfrm>
            <a:off x="320040" y="4892040"/>
            <a:ext cx="4205880" cy="13680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3"/>
          <p:cNvSpPr/>
          <p:nvPr/>
        </p:nvSpPr>
        <p:spPr>
          <a:xfrm>
            <a:off x="4754880" y="4892040"/>
            <a:ext cx="4205880" cy="360"/>
          </a:xfrm>
          <a:prstGeom prst="rect">
            <a:avLst/>
          </a:prstGeom>
          <a:solidFill>
            <a:srgbClr val="f4f6fa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4"/>
          <p:cNvSpPr/>
          <p:nvPr/>
        </p:nvSpPr>
        <p:spPr>
          <a:xfrm>
            <a:off x="4754880" y="4892040"/>
            <a:ext cx="4205880" cy="13680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5"/>
          <p:cNvSpPr/>
          <p:nvPr/>
        </p:nvSpPr>
        <p:spPr>
          <a:xfrm>
            <a:off x="8412480" y="477324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7 / 14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54360" cy="514332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"/>
          <p:cNvSpPr/>
          <p:nvPr/>
        </p:nvSpPr>
        <p:spPr>
          <a:xfrm>
            <a:off x="320040" y="182880"/>
            <a:ext cx="795240" cy="25560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320040" y="191880"/>
            <a:ext cx="795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MIXINS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320040" y="45720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@mixin — CSS reutilizável com parâmetros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4"/>
          <p:cNvSpPr/>
          <p:nvPr/>
        </p:nvSpPr>
        <p:spPr>
          <a:xfrm>
            <a:off x="228600" y="1097280"/>
            <a:ext cx="4937400" cy="255996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365760" y="1234440"/>
            <a:ext cx="46630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// Definição com @mixin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@mixin imagem-ajustada($altura: 220px)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width: 100%;  height: $altura;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object-fit: cover;  object-position: center;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// Uso com @include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.img-produto     { @include imagem-ajustada(220px); 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#slider img      { @include imagem-ajustada(500px); 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6"/>
          <p:cNvSpPr/>
          <p:nvPr/>
        </p:nvSpPr>
        <p:spPr>
          <a:xfrm>
            <a:off x="5257800" y="1097280"/>
            <a:ext cx="3657240" cy="255996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7"/>
          <p:cNvSpPr/>
          <p:nvPr/>
        </p:nvSpPr>
        <p:spPr>
          <a:xfrm>
            <a:off x="5257800" y="1097280"/>
            <a:ext cx="45360" cy="2559960"/>
          </a:xfrm>
          <a:prstGeom prst="rect">
            <a:avLst/>
          </a:prstGeom>
          <a:solidFill>
            <a:srgbClr val="f4a742"/>
          </a:solidFill>
          <a:ln w="12700">
            <a:solidFill>
              <a:srgbClr val="f4a7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5413320" y="1188720"/>
            <a:ext cx="333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a742"/>
                </a:solidFill>
                <a:effectLst/>
                <a:uFillTx/>
                <a:latin typeface="Trebuchet MS"/>
                <a:ea typeface="Trebuchet MS"/>
              </a:rPr>
              <a:t>Funções de cor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9"/>
          <p:cNvSpPr/>
          <p:nvPr/>
        </p:nvSpPr>
        <p:spPr>
          <a:xfrm>
            <a:off x="5413320" y="162756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darken($cor, 10%)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7607880" y="162756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Escurece a cor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5413320" y="208476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lighten($cor, 20%)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2"/>
          <p:cNvSpPr/>
          <p:nvPr/>
        </p:nvSpPr>
        <p:spPr>
          <a:xfrm>
            <a:off x="7607880" y="208476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Clareia a cor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3"/>
          <p:cNvSpPr/>
          <p:nvPr/>
        </p:nvSpPr>
        <p:spPr>
          <a:xfrm>
            <a:off x="5413320" y="254196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rgba($cor, 0.15)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4"/>
          <p:cNvSpPr/>
          <p:nvPr/>
        </p:nvSpPr>
        <p:spPr>
          <a:xfrm>
            <a:off x="7607880" y="254196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Adiciona opacidade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5"/>
          <p:cNvSpPr/>
          <p:nvPr/>
        </p:nvSpPr>
        <p:spPr>
          <a:xfrm>
            <a:off x="5413320" y="299916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mix($c1, $c2, 30%)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6"/>
          <p:cNvSpPr/>
          <p:nvPr/>
        </p:nvSpPr>
        <p:spPr>
          <a:xfrm>
            <a:off x="7607880" y="299916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Mistura duas cores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7"/>
          <p:cNvSpPr/>
          <p:nvPr/>
        </p:nvSpPr>
        <p:spPr>
          <a:xfrm>
            <a:off x="228600" y="3749040"/>
            <a:ext cx="8686440" cy="117000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8"/>
          <p:cNvSpPr/>
          <p:nvPr/>
        </p:nvSpPr>
        <p:spPr>
          <a:xfrm>
            <a:off x="411480" y="38221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@extend e %placeholder  —  herança de regras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9"/>
          <p:cNvSpPr/>
          <p:nvPr/>
        </p:nvSpPr>
        <p:spPr>
          <a:xfrm>
            <a:off x="3886200" y="3822120"/>
            <a:ext cx="4891680" cy="98712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0"/>
          <p:cNvSpPr/>
          <p:nvPr/>
        </p:nvSpPr>
        <p:spPr>
          <a:xfrm>
            <a:off x="4023360" y="3959280"/>
            <a:ext cx="4617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%card-hover { transition: box-shadow 0.2s; &amp;:hover { box-shadow: 0 8px 24px rgba(0,0,0,.15); } 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.card { @extend %card-hover; }   .card-produto { @extend %card-hover; padding: 1.5rem; 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1"/>
          <p:cNvSpPr/>
          <p:nvPr/>
        </p:nvSpPr>
        <p:spPr>
          <a:xfrm>
            <a:off x="8412480" y="477324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8 / 14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320040" y="164520"/>
            <a:ext cx="1750680" cy="25560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320040" y="173880"/>
            <a:ext cx="175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CUSTOM PROPERTIES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Image 0" descr="preencoded.png"/>
          <p:cNvPicPr/>
          <p:nvPr/>
        </p:nvPicPr>
        <p:blipFill>
          <a:blip r:embed="rId1"/>
          <a:stretch/>
        </p:blipFill>
        <p:spPr>
          <a:xfrm>
            <a:off x="8229600" y="274320"/>
            <a:ext cx="822600" cy="82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 2"/>
          <p:cNvSpPr/>
          <p:nvPr/>
        </p:nvSpPr>
        <p:spPr>
          <a:xfrm>
            <a:off x="320040" y="50292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d1b2a"/>
                </a:solidFill>
                <a:effectLst/>
                <a:uFillTx/>
                <a:latin typeface="Trebuchet MS"/>
                <a:ea typeface="Trebuchet MS"/>
              </a:rPr>
              <a:t>--variavel: valores que vivem em runtime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320040" y="1143000"/>
            <a:ext cx="8503560" cy="141696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457200" y="128016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:root {                               [data-tema='dark'] {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--ts-fundo:   #ffffff;               --ts-fundo:   #1a1a2e;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--ts-texto:   #212529;               --ts-texto:   #e0e0e0;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--ts-primaria: #0d6efd;              --ts-primaria: #5fa8ff;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                                    }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5"/>
          <p:cNvSpPr/>
          <p:nvPr/>
        </p:nvSpPr>
        <p:spPr>
          <a:xfrm>
            <a:off x="320040" y="2651760"/>
            <a:ext cx="8503560" cy="105120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457200" y="278892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// Componentes usam var() — nunca cores fixas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body  { background: var(--ts-fundo);  color: var(--ts-texto); }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.card { box-shadow: var(--ts-card-sombra); }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7"/>
          <p:cNvSpPr/>
          <p:nvPr/>
        </p:nvSpPr>
        <p:spPr>
          <a:xfrm>
            <a:off x="320040" y="3794760"/>
            <a:ext cx="8503560" cy="114264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502920" y="385884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Troca de tema com JavaScript — uma linha: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9"/>
          <p:cNvSpPr/>
          <p:nvPr/>
        </p:nvSpPr>
        <p:spPr>
          <a:xfrm>
            <a:off x="502920" y="4224600"/>
            <a:ext cx="8229240" cy="59400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640080" y="4361760"/>
            <a:ext cx="7954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document.documentElement.setAttribute('data-tema', novoTema);  // CSS re-avalia tudo instantaneamente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1"/>
          <p:cNvSpPr/>
          <p:nvPr/>
        </p:nvSpPr>
        <p:spPr>
          <a:xfrm>
            <a:off x="8412480" y="477324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9 / 14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0" y="0"/>
            <a:ext cx="54360" cy="5143320"/>
          </a:xfrm>
          <a:prstGeom prst="rect">
            <a:avLst/>
          </a:prstGeom>
          <a:solidFill>
            <a:srgbClr val="f4a742"/>
          </a:solidFill>
          <a:ln w="12700">
            <a:solidFill>
              <a:srgbClr val="f4a7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"/>
          <p:cNvSpPr/>
          <p:nvPr/>
        </p:nvSpPr>
        <p:spPr>
          <a:xfrm>
            <a:off x="320040" y="182880"/>
            <a:ext cx="1577160" cy="25560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320040" y="191880"/>
            <a:ext cx="157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TEMAS MÚLTIPLOS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0" descr="preencoded.png"/>
          <p:cNvPicPr/>
          <p:nvPr/>
        </p:nvPicPr>
        <p:blipFill>
          <a:blip r:embed="rId1"/>
          <a:stretch/>
        </p:blipFill>
        <p:spPr>
          <a:xfrm>
            <a:off x="8046720" y="27432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3"/>
          <p:cNvSpPr/>
          <p:nvPr/>
        </p:nvSpPr>
        <p:spPr>
          <a:xfrm>
            <a:off x="320040" y="457200"/>
            <a:ext cx="74977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4 temas em runtime — zero CSS extra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4"/>
          <p:cNvSpPr/>
          <p:nvPr/>
        </p:nvSpPr>
        <p:spPr>
          <a:xfrm>
            <a:off x="274320" y="1188720"/>
            <a:ext cx="1965600" cy="255996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5"/>
          <p:cNvSpPr/>
          <p:nvPr/>
        </p:nvSpPr>
        <p:spPr>
          <a:xfrm>
            <a:off x="274320" y="1188720"/>
            <a:ext cx="1965600" cy="383760"/>
          </a:xfrm>
          <a:prstGeom prst="rect">
            <a:avLst/>
          </a:prstGeom>
          <a:solidFill>
            <a:srgbClr val="7b9fc4"/>
          </a:solidFill>
          <a:ln w="12700">
            <a:solidFill>
              <a:srgbClr val="7b9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6"/>
          <p:cNvSpPr/>
          <p:nvPr/>
        </p:nvSpPr>
        <p:spPr>
          <a:xfrm>
            <a:off x="274320" y="1188720"/>
            <a:ext cx="1965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Light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7"/>
          <p:cNvSpPr/>
          <p:nvPr/>
        </p:nvSpPr>
        <p:spPr>
          <a:xfrm>
            <a:off x="365760" y="169164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55555"/>
                </a:solidFill>
                <a:effectLst/>
                <a:uFillTx/>
                <a:latin typeface="Courier New"/>
                <a:ea typeface="Courier New"/>
              </a:rPr>
              <a:t>[data-tema="light"]</a:t>
            </a:r>
            <a:endParaRPr b="0" lang="pt-BR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8"/>
          <p:cNvSpPr/>
          <p:nvPr/>
        </p:nvSpPr>
        <p:spPr>
          <a:xfrm>
            <a:off x="365760" y="212148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444444"/>
                </a:solidFill>
                <a:effectLst/>
                <a:uFillTx/>
                <a:latin typeface="Courier New"/>
                <a:ea typeface="Courier New"/>
              </a:rPr>
              <a:t>--ts-fundo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9"/>
          <p:cNvSpPr/>
          <p:nvPr/>
        </p:nvSpPr>
        <p:spPr>
          <a:xfrm>
            <a:off x="365760" y="250560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444444"/>
                </a:solidFill>
                <a:effectLst/>
                <a:uFillTx/>
                <a:latin typeface="Courier New"/>
                <a:ea typeface="Courier New"/>
              </a:rPr>
              <a:t>--ts-texto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0"/>
          <p:cNvSpPr/>
          <p:nvPr/>
        </p:nvSpPr>
        <p:spPr>
          <a:xfrm>
            <a:off x="365760" y="288936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444444"/>
                </a:solidFill>
                <a:effectLst/>
                <a:uFillTx/>
                <a:latin typeface="Courier New"/>
                <a:ea typeface="Courier New"/>
              </a:rPr>
              <a:t>--ts-primaria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1"/>
          <p:cNvSpPr/>
          <p:nvPr/>
        </p:nvSpPr>
        <p:spPr>
          <a:xfrm>
            <a:off x="2450520" y="1188720"/>
            <a:ext cx="1965600" cy="25599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4a7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2"/>
          <p:cNvSpPr/>
          <p:nvPr/>
        </p:nvSpPr>
        <p:spPr>
          <a:xfrm>
            <a:off x="2450520" y="1188720"/>
            <a:ext cx="1965600" cy="383760"/>
          </a:xfrm>
          <a:prstGeom prst="rect">
            <a:avLst/>
          </a:prstGeom>
          <a:solidFill>
            <a:srgbClr val="5fa8ff"/>
          </a:solidFill>
          <a:ln w="12700">
            <a:solidFill>
              <a:srgbClr val="5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3"/>
          <p:cNvSpPr/>
          <p:nvPr/>
        </p:nvSpPr>
        <p:spPr>
          <a:xfrm>
            <a:off x="2450520" y="1188720"/>
            <a:ext cx="1965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Dark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4"/>
          <p:cNvSpPr/>
          <p:nvPr/>
        </p:nvSpPr>
        <p:spPr>
          <a:xfrm>
            <a:off x="2541960" y="169164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fa8ff"/>
                </a:solidFill>
                <a:effectLst/>
                <a:uFillTx/>
                <a:latin typeface="Courier New"/>
                <a:ea typeface="Courier New"/>
              </a:rPr>
              <a:t>[data-tema="dark"]</a:t>
            </a:r>
            <a:endParaRPr b="0" lang="pt-BR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5"/>
          <p:cNvSpPr/>
          <p:nvPr/>
        </p:nvSpPr>
        <p:spPr>
          <a:xfrm>
            <a:off x="2541960" y="212148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Courier New"/>
                <a:ea typeface="Courier New"/>
              </a:rPr>
              <a:t>--ts-fundo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6"/>
          <p:cNvSpPr/>
          <p:nvPr/>
        </p:nvSpPr>
        <p:spPr>
          <a:xfrm>
            <a:off x="2541960" y="250560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Courier New"/>
                <a:ea typeface="Courier New"/>
              </a:rPr>
              <a:t>--ts-texto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7"/>
          <p:cNvSpPr/>
          <p:nvPr/>
        </p:nvSpPr>
        <p:spPr>
          <a:xfrm>
            <a:off x="2541960" y="288936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Courier New"/>
                <a:ea typeface="Courier New"/>
              </a:rPr>
              <a:t>--ts-primaria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8"/>
          <p:cNvSpPr/>
          <p:nvPr/>
        </p:nvSpPr>
        <p:spPr>
          <a:xfrm>
            <a:off x="4626720" y="1188720"/>
            <a:ext cx="1965600" cy="2559960"/>
          </a:xfrm>
          <a:prstGeom prst="rect">
            <a:avLst/>
          </a:prstGeom>
          <a:solidFill>
            <a:srgbClr val="f0faf4"/>
          </a:solidFill>
          <a:ln w="12700">
            <a:solidFill>
              <a:srgbClr val="a3cfb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9"/>
          <p:cNvSpPr/>
          <p:nvPr/>
        </p:nvSpPr>
        <p:spPr>
          <a:xfrm>
            <a:off x="4626720" y="1188720"/>
            <a:ext cx="1965600" cy="38376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0"/>
          <p:cNvSpPr/>
          <p:nvPr/>
        </p:nvSpPr>
        <p:spPr>
          <a:xfrm>
            <a:off x="4626720" y="1188720"/>
            <a:ext cx="1965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Verde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1"/>
          <p:cNvSpPr/>
          <p:nvPr/>
        </p:nvSpPr>
        <p:spPr>
          <a:xfrm>
            <a:off x="4718160" y="169164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98754"/>
                </a:solidFill>
                <a:effectLst/>
                <a:uFillTx/>
                <a:latin typeface="Courier New"/>
                <a:ea typeface="Courier New"/>
              </a:rPr>
              <a:t>[data-tema="verde"]</a:t>
            </a:r>
            <a:endParaRPr b="0" lang="pt-BR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2"/>
          <p:cNvSpPr/>
          <p:nvPr/>
        </p:nvSpPr>
        <p:spPr>
          <a:xfrm>
            <a:off x="4718160" y="212148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Courier New"/>
                <a:ea typeface="Courier New"/>
              </a:rPr>
              <a:t>--ts-fundo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3"/>
          <p:cNvSpPr/>
          <p:nvPr/>
        </p:nvSpPr>
        <p:spPr>
          <a:xfrm>
            <a:off x="4718160" y="250560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Courier New"/>
                <a:ea typeface="Courier New"/>
              </a:rPr>
              <a:t>--ts-texto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4"/>
          <p:cNvSpPr/>
          <p:nvPr/>
        </p:nvSpPr>
        <p:spPr>
          <a:xfrm>
            <a:off x="4718160" y="288936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Courier New"/>
                <a:ea typeface="Courier New"/>
              </a:rPr>
              <a:t>--ts-primaria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5"/>
          <p:cNvSpPr/>
          <p:nvPr/>
        </p:nvSpPr>
        <p:spPr>
          <a:xfrm>
            <a:off x="6803280" y="1188720"/>
            <a:ext cx="1965600" cy="2559960"/>
          </a:xfrm>
          <a:prstGeom prst="rect">
            <a:avLst/>
          </a:prstGeom>
          <a:solidFill>
            <a:srgbClr val="f5f0ff"/>
          </a:solidFill>
          <a:ln w="12700">
            <a:solidFill>
              <a:srgbClr val="c9b8e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6"/>
          <p:cNvSpPr/>
          <p:nvPr/>
        </p:nvSpPr>
        <p:spPr>
          <a:xfrm>
            <a:off x="6803280" y="1188720"/>
            <a:ext cx="1965600" cy="383760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7"/>
          <p:cNvSpPr/>
          <p:nvPr/>
        </p:nvSpPr>
        <p:spPr>
          <a:xfrm>
            <a:off x="6803280" y="1188720"/>
            <a:ext cx="1965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Roxo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8"/>
          <p:cNvSpPr/>
          <p:nvPr/>
        </p:nvSpPr>
        <p:spPr>
          <a:xfrm>
            <a:off x="6894720" y="169164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f42c1"/>
                </a:solidFill>
                <a:effectLst/>
                <a:uFillTx/>
                <a:latin typeface="Courier New"/>
                <a:ea typeface="Courier New"/>
              </a:rPr>
              <a:t>[data-tema="roxo"]</a:t>
            </a:r>
            <a:endParaRPr b="0" lang="pt-BR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9"/>
          <p:cNvSpPr/>
          <p:nvPr/>
        </p:nvSpPr>
        <p:spPr>
          <a:xfrm>
            <a:off x="6894720" y="212148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Courier New"/>
                <a:ea typeface="Courier New"/>
              </a:rPr>
              <a:t>--ts-fundo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0"/>
          <p:cNvSpPr/>
          <p:nvPr/>
        </p:nvSpPr>
        <p:spPr>
          <a:xfrm>
            <a:off x="6894720" y="250560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Courier New"/>
                <a:ea typeface="Courier New"/>
              </a:rPr>
              <a:t>--ts-texto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1"/>
          <p:cNvSpPr/>
          <p:nvPr/>
        </p:nvSpPr>
        <p:spPr>
          <a:xfrm>
            <a:off x="6894720" y="288936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Courier New"/>
                <a:ea typeface="Courier New"/>
              </a:rPr>
              <a:t>--ts-primaria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2"/>
          <p:cNvSpPr/>
          <p:nvPr/>
        </p:nvSpPr>
        <p:spPr>
          <a:xfrm>
            <a:off x="274320" y="3858840"/>
            <a:ext cx="8595000" cy="107856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3"/>
          <p:cNvSpPr/>
          <p:nvPr/>
        </p:nvSpPr>
        <p:spPr>
          <a:xfrm>
            <a:off x="411480" y="3996000"/>
            <a:ext cx="83206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// main.ts — rotação circular entre temas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const temas: NomeTema[] = ['light', 'dark', 'verde', 'roxo'];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function alternarTema()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const idx = temas.indexOf(atual);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aplicarTema(temas[(idx + 1) % temas.length]);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4"/>
          <p:cNvSpPr/>
          <p:nvPr/>
        </p:nvSpPr>
        <p:spPr>
          <a:xfrm>
            <a:off x="8412480" y="477324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10 / 14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/>
          <p:cNvSpPr/>
          <p:nvPr/>
        </p:nvSpPr>
        <p:spPr>
          <a:xfrm>
            <a:off x="0" y="0"/>
            <a:ext cx="54360" cy="5143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"/>
          <p:cNvSpPr/>
          <p:nvPr/>
        </p:nvSpPr>
        <p:spPr>
          <a:xfrm>
            <a:off x="320040" y="182880"/>
            <a:ext cx="1229400" cy="25560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"/>
          <p:cNvSpPr/>
          <p:nvPr/>
        </p:nvSpPr>
        <p:spPr>
          <a:xfrm>
            <a:off x="320040" y="191880"/>
            <a:ext cx="1229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VITE + SASS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0" descr="preencoded.png"/>
          <p:cNvPicPr/>
          <p:nvPr/>
        </p:nvPicPr>
        <p:blipFill>
          <a:blip r:embed="rId1"/>
          <a:stretch/>
        </p:blipFill>
        <p:spPr>
          <a:xfrm>
            <a:off x="8046720" y="27432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3"/>
          <p:cNvSpPr/>
          <p:nvPr/>
        </p:nvSpPr>
        <p:spPr>
          <a:xfrm>
            <a:off x="320040" y="457200"/>
            <a:ext cx="74977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Sass no Vite — zero configuração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4"/>
          <p:cNvSpPr/>
          <p:nvPr/>
        </p:nvSpPr>
        <p:spPr>
          <a:xfrm>
            <a:off x="228600" y="1188720"/>
            <a:ext cx="8686440" cy="95976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5"/>
          <p:cNvSpPr/>
          <p:nvPr/>
        </p:nvSpPr>
        <p:spPr>
          <a:xfrm>
            <a:off x="228600" y="1188720"/>
            <a:ext cx="45360" cy="959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6"/>
          <p:cNvSpPr/>
          <p:nvPr/>
        </p:nvSpPr>
        <p:spPr>
          <a:xfrm>
            <a:off x="347400" y="1261800"/>
            <a:ext cx="456840" cy="456840"/>
          </a:xfrm>
          <a:prstGeom prst="ellipse">
            <a:avLst/>
          </a:prstGeom>
          <a:solidFill>
            <a:srgbClr val="f4a742"/>
          </a:solidFill>
          <a:ln w="12700">
            <a:solidFill>
              <a:srgbClr val="f4a7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7"/>
          <p:cNvSpPr/>
          <p:nvPr/>
        </p:nvSpPr>
        <p:spPr>
          <a:xfrm>
            <a:off x="347400" y="1261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b2a"/>
                </a:solidFill>
                <a:effectLst/>
                <a:uFillTx/>
                <a:latin typeface="Trebuchet MS"/>
                <a:ea typeface="Trebuchet MS"/>
              </a:rPr>
              <a:t>1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8"/>
          <p:cNvSpPr/>
          <p:nvPr/>
        </p:nvSpPr>
        <p:spPr>
          <a:xfrm>
            <a:off x="868680" y="126180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Instalar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9"/>
          <p:cNvSpPr/>
          <p:nvPr/>
        </p:nvSpPr>
        <p:spPr>
          <a:xfrm>
            <a:off x="3200400" y="1261800"/>
            <a:ext cx="5577480" cy="41112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0"/>
          <p:cNvSpPr/>
          <p:nvPr/>
        </p:nvSpPr>
        <p:spPr>
          <a:xfrm>
            <a:off x="3337560" y="1398960"/>
            <a:ext cx="5303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npm install --save-dev sass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1"/>
          <p:cNvSpPr/>
          <p:nvPr/>
        </p:nvSpPr>
        <p:spPr>
          <a:xfrm>
            <a:off x="228600" y="2286000"/>
            <a:ext cx="8686440" cy="95976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2"/>
          <p:cNvSpPr/>
          <p:nvPr/>
        </p:nvSpPr>
        <p:spPr>
          <a:xfrm>
            <a:off x="228600" y="2286000"/>
            <a:ext cx="45360" cy="959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3"/>
          <p:cNvSpPr/>
          <p:nvPr/>
        </p:nvSpPr>
        <p:spPr>
          <a:xfrm>
            <a:off x="347400" y="2359080"/>
            <a:ext cx="456840" cy="456840"/>
          </a:xfrm>
          <a:prstGeom prst="ellipse">
            <a:avLst/>
          </a:prstGeom>
          <a:solidFill>
            <a:srgbClr val="f4a742"/>
          </a:solidFill>
          <a:ln w="12700">
            <a:solidFill>
              <a:srgbClr val="f4a7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4"/>
          <p:cNvSpPr/>
          <p:nvPr/>
        </p:nvSpPr>
        <p:spPr>
          <a:xfrm>
            <a:off x="347400" y="23590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b2a"/>
                </a:solidFill>
                <a:effectLst/>
                <a:uFillTx/>
                <a:latin typeface="Trebuchet MS"/>
                <a:ea typeface="Trebuchet MS"/>
              </a:rPr>
              <a:t>2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5"/>
          <p:cNvSpPr/>
          <p:nvPr/>
        </p:nvSpPr>
        <p:spPr>
          <a:xfrm>
            <a:off x="868680" y="235908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Alterar link no HTML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6"/>
          <p:cNvSpPr/>
          <p:nvPr/>
        </p:nvSpPr>
        <p:spPr>
          <a:xfrm>
            <a:off x="3200400" y="2359080"/>
            <a:ext cx="5577480" cy="41112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7"/>
          <p:cNvSpPr/>
          <p:nvPr/>
        </p:nvSpPr>
        <p:spPr>
          <a:xfrm>
            <a:off x="3337560" y="2496240"/>
            <a:ext cx="5303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&lt;link href="scss/style.scss" rel="stylesheet"/&gt;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8"/>
          <p:cNvSpPr/>
          <p:nvPr/>
        </p:nvSpPr>
        <p:spPr>
          <a:xfrm>
            <a:off x="228600" y="3383280"/>
            <a:ext cx="8686440" cy="95976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9"/>
          <p:cNvSpPr/>
          <p:nvPr/>
        </p:nvSpPr>
        <p:spPr>
          <a:xfrm>
            <a:off x="228600" y="3383280"/>
            <a:ext cx="45360" cy="959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0"/>
          <p:cNvSpPr/>
          <p:nvPr/>
        </p:nvSpPr>
        <p:spPr>
          <a:xfrm>
            <a:off x="347400" y="3456360"/>
            <a:ext cx="456840" cy="456840"/>
          </a:xfrm>
          <a:prstGeom prst="ellipse">
            <a:avLst/>
          </a:prstGeom>
          <a:solidFill>
            <a:srgbClr val="f4a742"/>
          </a:solidFill>
          <a:ln w="12700">
            <a:solidFill>
              <a:srgbClr val="f4a7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1"/>
          <p:cNvSpPr/>
          <p:nvPr/>
        </p:nvSpPr>
        <p:spPr>
          <a:xfrm>
            <a:off x="347400" y="3456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b2a"/>
                </a:solidFill>
                <a:effectLst/>
                <a:uFillTx/>
                <a:latin typeface="Trebuchet MS"/>
                <a:ea typeface="Trebuchet MS"/>
              </a:rPr>
              <a:t>3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2"/>
          <p:cNvSpPr/>
          <p:nvPr/>
        </p:nvSpPr>
        <p:spPr>
          <a:xfrm>
            <a:off x="868680" y="345636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Rodar dev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3"/>
          <p:cNvSpPr/>
          <p:nvPr/>
        </p:nvSpPr>
        <p:spPr>
          <a:xfrm>
            <a:off x="3200400" y="3456360"/>
            <a:ext cx="5577480" cy="41112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4"/>
          <p:cNvSpPr/>
          <p:nvPr/>
        </p:nvSpPr>
        <p:spPr>
          <a:xfrm>
            <a:off x="3337560" y="3593520"/>
            <a:ext cx="5303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npm run dev   # Vite compila o SCSS automaticamente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5"/>
          <p:cNvSpPr/>
          <p:nvPr/>
        </p:nvSpPr>
        <p:spPr>
          <a:xfrm>
            <a:off x="228600" y="4480560"/>
            <a:ext cx="8686440" cy="502560"/>
          </a:xfrm>
          <a:prstGeom prst="rect">
            <a:avLst/>
          </a:prstGeom>
          <a:solidFill>
            <a:srgbClr val="0f2a15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6"/>
          <p:cNvSpPr/>
          <p:nvPr/>
        </p:nvSpPr>
        <p:spPr>
          <a:xfrm>
            <a:off x="411480" y="4526280"/>
            <a:ext cx="36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ecc71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7"/>
          <p:cNvSpPr/>
          <p:nvPr/>
        </p:nvSpPr>
        <p:spPr>
          <a:xfrm>
            <a:off x="822960" y="452628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Durante o npm run dev, o SCSS é compilado em memória — nenhum arquivo .css é gerado em disco. No npm run build, o CSS final vai comprimido para dist/.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8"/>
          <p:cNvSpPr/>
          <p:nvPr/>
        </p:nvSpPr>
        <p:spPr>
          <a:xfrm>
            <a:off x="8412480" y="477324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12 / 14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0"/>
          <p:cNvSpPr/>
          <p:nvPr/>
        </p:nvSpPr>
        <p:spPr>
          <a:xfrm>
            <a:off x="-914400" y="3200400"/>
            <a:ext cx="4571640" cy="4571640"/>
          </a:xfrm>
          <a:prstGeom prst="ellipse">
            <a:avLst/>
          </a:prstGeom>
          <a:solidFill>
            <a:srgbClr val="1b3a6b">
              <a:alpha val="25000"/>
            </a:srgbClr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"/>
          <p:cNvSpPr/>
          <p:nvPr/>
        </p:nvSpPr>
        <p:spPr>
          <a:xfrm>
            <a:off x="6858000" y="-1371600"/>
            <a:ext cx="4571640" cy="4571640"/>
          </a:xfrm>
          <a:prstGeom prst="ellipse">
            <a:avLst/>
          </a:prstGeom>
          <a:solidFill>
            <a:srgbClr val="cc6699">
              <a:alpha val="20000"/>
            </a:srgbClr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"/>
          <p:cNvSpPr/>
          <p:nvPr/>
        </p:nvSpPr>
        <p:spPr>
          <a:xfrm>
            <a:off x="731520" y="502920"/>
            <a:ext cx="7680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00" strike="noStrike" u="none">
                <a:solidFill>
                  <a:srgbClr val="cc6699"/>
                </a:solidFill>
                <a:effectLst/>
                <a:uFillTx/>
                <a:latin typeface="Trebuchet MS"/>
                <a:ea typeface="Trebuchet MS"/>
              </a:rPr>
              <a:t>Recapitulando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548640" y="1005840"/>
            <a:ext cx="8046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Você agora tem CSS</a:t>
            </a:r>
            <a:endParaRPr b="0" lang="pt-BR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organizado e com superpoderes</a:t>
            </a:r>
            <a:endParaRPr b="0" lang="pt-BR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6"/>
          <p:cNvSpPr/>
          <p:nvPr/>
        </p:nvSpPr>
        <p:spPr>
          <a:xfrm>
            <a:off x="900000" y="2633400"/>
            <a:ext cx="1188360" cy="475200"/>
          </a:xfrm>
          <a:prstGeom prst="rect">
            <a:avLst/>
          </a:prstGeom>
          <a:solidFill>
            <a:srgbClr val="162444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7"/>
          <p:cNvSpPr/>
          <p:nvPr/>
        </p:nvSpPr>
        <p:spPr>
          <a:xfrm>
            <a:off x="900000" y="2633400"/>
            <a:ext cx="1188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cc6699"/>
                </a:solidFill>
                <a:effectLst/>
                <a:uFillTx/>
                <a:latin typeface="Trebuchet MS"/>
                <a:ea typeface="Trebuchet MS"/>
              </a:rPr>
              <a:t>$variáveis</a:t>
            </a:r>
            <a:endParaRPr b="0" lang="pt-BR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8"/>
          <p:cNvSpPr/>
          <p:nvPr/>
        </p:nvSpPr>
        <p:spPr>
          <a:xfrm>
            <a:off x="2225880" y="2633400"/>
            <a:ext cx="1188360" cy="475200"/>
          </a:xfrm>
          <a:prstGeom prst="rect">
            <a:avLst/>
          </a:prstGeom>
          <a:solidFill>
            <a:srgbClr val="162444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9"/>
          <p:cNvSpPr/>
          <p:nvPr/>
        </p:nvSpPr>
        <p:spPr>
          <a:xfrm>
            <a:off x="2225880" y="2633400"/>
            <a:ext cx="1188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cc6699"/>
                </a:solidFill>
                <a:effectLst/>
                <a:uFillTx/>
                <a:latin typeface="Trebuchet MS"/>
                <a:ea typeface="Trebuchet MS"/>
              </a:rPr>
              <a:t>Nesting</a:t>
            </a:r>
            <a:endParaRPr b="0" lang="pt-BR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0"/>
          <p:cNvSpPr/>
          <p:nvPr/>
        </p:nvSpPr>
        <p:spPr>
          <a:xfrm>
            <a:off x="3551760" y="2633400"/>
            <a:ext cx="1188360" cy="475200"/>
          </a:xfrm>
          <a:prstGeom prst="rect">
            <a:avLst/>
          </a:prstGeom>
          <a:solidFill>
            <a:srgbClr val="162444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1"/>
          <p:cNvSpPr/>
          <p:nvPr/>
        </p:nvSpPr>
        <p:spPr>
          <a:xfrm>
            <a:off x="3551760" y="2633400"/>
            <a:ext cx="1188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cc6699"/>
                </a:solidFill>
                <a:effectLst/>
                <a:uFillTx/>
                <a:latin typeface="Trebuchet MS"/>
                <a:ea typeface="Trebuchet MS"/>
              </a:rPr>
              <a:t>@mixin</a:t>
            </a:r>
            <a:endParaRPr b="0" lang="pt-BR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2"/>
          <p:cNvSpPr/>
          <p:nvPr/>
        </p:nvSpPr>
        <p:spPr>
          <a:xfrm>
            <a:off x="4877640" y="2633400"/>
            <a:ext cx="1188360" cy="475200"/>
          </a:xfrm>
          <a:prstGeom prst="rect">
            <a:avLst/>
          </a:prstGeom>
          <a:solidFill>
            <a:srgbClr val="162444"/>
          </a:solidFill>
          <a:ln w="12700">
            <a:solidFill>
              <a:srgbClr val="f4a7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3"/>
          <p:cNvSpPr/>
          <p:nvPr/>
        </p:nvSpPr>
        <p:spPr>
          <a:xfrm>
            <a:off x="4877640" y="2633400"/>
            <a:ext cx="1188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4a742"/>
                </a:solidFill>
                <a:effectLst/>
                <a:uFillTx/>
                <a:latin typeface="Trebuchet MS"/>
                <a:ea typeface="Trebuchet MS"/>
              </a:rPr>
              <a:t>Custom Props</a:t>
            </a:r>
            <a:endParaRPr b="0" lang="pt-BR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4"/>
          <p:cNvSpPr/>
          <p:nvPr/>
        </p:nvSpPr>
        <p:spPr>
          <a:xfrm>
            <a:off x="6203520" y="2633400"/>
            <a:ext cx="1188360" cy="475200"/>
          </a:xfrm>
          <a:prstGeom prst="rect">
            <a:avLst/>
          </a:prstGeom>
          <a:solidFill>
            <a:srgbClr val="162444"/>
          </a:solidFill>
          <a:ln w="12700">
            <a:solidFill>
              <a:srgbClr val="f4a7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5"/>
          <p:cNvSpPr/>
          <p:nvPr/>
        </p:nvSpPr>
        <p:spPr>
          <a:xfrm>
            <a:off x="6203520" y="2633400"/>
            <a:ext cx="1188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4a742"/>
                </a:solidFill>
                <a:effectLst/>
                <a:uFillTx/>
                <a:latin typeface="Trebuchet MS"/>
                <a:ea typeface="Trebuchet MS"/>
              </a:rPr>
              <a:t>Temas</a:t>
            </a:r>
            <a:endParaRPr b="0" lang="pt-BR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LibreOffice/25.2.3.2$Linux_X86_64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2026-04-13T22:39:33Z</dcterms:created>
  <dc:creator>PptxGenJS</dc:creator>
  <dc:description/>
  <dc:language>pt-BR</dc:language>
  <cp:lastModifiedBy/>
  <dcterms:modified xsi:type="dcterms:W3CDTF">2026-04-16T15:04:58Z</dcterms:modified>
  <cp:revision>5</cp:revision>
  <dc:subject>PptxGenJS Presentation</dc:subject>
  <dc:title>Revisão Aula 3 — Sass e CSS Avançado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