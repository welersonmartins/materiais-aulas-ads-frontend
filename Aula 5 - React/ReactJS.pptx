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E3393C1-021F-481D-956C-27E1F2A1240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3D95DD-61C7-4AB6-BBBF-834B52F8D8E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185DE0-8330-4F45-A542-4B79B227335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697CAA-B3E3-4C06-A751-40246EA896A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9EB9D8-1D66-41BE-863D-BBEC6A7C58F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A2533D-1268-494C-B089-BFCBBEEDC0B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30B970-2C53-49B6-9AEB-7261F30C56C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C0A6A7-3965-46D7-B668-1CBEF391965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1FE8D6-8BD6-4898-95BB-7AFB7B7CBBC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773E80-D49C-465A-97A4-E14016EAA67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AD9E40-1072-4EE8-8A34-FB974E6D0EE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60D521-CCF2-44D5-AE4E-9E6D3A0771F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6FA82E-B049-44DF-BB7A-F52B18891F4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225279-45DE-44D0-AF8E-BC9F35A2B23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92447C-0629-47D6-BEA1-19EA4AC850E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DFFBA4-0876-46D8-A7AF-55945AC6DCF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4B69BF-FC93-460D-8FB7-94A9D6A167F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A57545-5EA5-4E77-ADA7-3345B510345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27713B-D2B3-4E42-A642-3402E0D9A5C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F2E0C8-5638-4466-B9FB-D03B23A62F7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FD4F09-AF93-4F57-A922-3BE04E57AEF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585223-9270-4E4A-A50D-DFD682414A7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FFE624-563E-47EA-80F5-F79D3538AC9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2A41A1-984F-4685-898F-E1E01B9F2C5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1653EF-92CE-4311-A534-37A4E27FF6B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F0C95E-4905-4605-9060-07ED7887726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9FD975-3EC9-4234-878D-86DE04D52BC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81EE64-72A6-4BC2-9BC4-2D69D79F051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298A15-0F8E-4730-A8F0-B9443253053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803280" y="1865520"/>
            <a:ext cx="1389600" cy="1389600"/>
          </a:xfrm>
          <a:prstGeom prst="ellipse">
            <a:avLst/>
          </a:prstGeom>
          <a:noFill/>
          <a:ln w="1905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803280" y="1865520"/>
            <a:ext cx="1389600" cy="1389600"/>
          </a:xfrm>
          <a:prstGeom prst="ellipse">
            <a:avLst/>
          </a:prstGeom>
          <a:noFill/>
          <a:ln w="1905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6803280" y="1865520"/>
            <a:ext cx="1389600" cy="1389600"/>
          </a:xfrm>
          <a:prstGeom prst="ellipse">
            <a:avLst/>
          </a:prstGeom>
          <a:noFill/>
          <a:ln w="1905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7333560" y="2395800"/>
            <a:ext cx="328680" cy="32868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57200" y="822960"/>
            <a:ext cx="62175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ReactJS</a:t>
            </a:r>
            <a:endParaRPr b="0" lang="pt-BR" sz="6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57200" y="2103120"/>
            <a:ext cx="6217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Do Básico ao React 19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57200" y="2834640"/>
            <a:ext cx="6217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Análise e Desenvolvimento de Sistemas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7200" y="3657600"/>
            <a:ext cx="1919880" cy="383760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502920" y="369432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1. Por que React?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2606040" y="3657600"/>
            <a:ext cx="1919880" cy="383760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2651760" y="369432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2. História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4754880" y="3657600"/>
            <a:ext cx="1919880" cy="383760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4800600" y="369432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3. JSX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6903720" y="3657600"/>
            <a:ext cx="1919880" cy="383760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6949440" y="369432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4. Componentes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457200" y="4251960"/>
            <a:ext cx="1919880" cy="383760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502920" y="428868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5. SPA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2606040" y="4251960"/>
            <a:ext cx="1919880" cy="383760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2651760" y="428868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6. State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4754880" y="4251960"/>
            <a:ext cx="1919880" cy="383760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4800600" y="428868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7. Hooks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6903720" y="4251960"/>
            <a:ext cx="1919880" cy="383760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6949440" y="428868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8. React 19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457200" y="548640"/>
            <a:ext cx="16455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0" strike="noStrike" u="none">
                <a:solidFill>
                  <a:srgbClr val="fb923c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pt-BR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2103120" y="1188720"/>
            <a:ext cx="64918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Por que o React existe?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5720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O Problema: Manipulação Manual do DOM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57200" y="777240"/>
            <a:ext cx="8229240" cy="270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57200" y="914400"/>
            <a:ext cx="82292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8fafc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Antes do React, toda atualização de interface era feita via JavaScript/jQuery puro.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8fafc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O desenvolvedor precisava selecionar elementos, atualizar manualmente e manter o estado sincronizado.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8fafc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Resultado: código difícil de manter, cheio de seleção de IDs e classes, propenso a bugs.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8fafc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Quanto mais a UI crescia, mais caótico e difícil de testar o código se tornava.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8fafc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Não havia uma maneira padronizada de reutilizar pedaços de interface.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365760" y="164520"/>
            <a:ext cx="8412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Antes do React vs Com React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"/>
          <p:cNvSpPr/>
          <p:nvPr/>
        </p:nvSpPr>
        <p:spPr>
          <a:xfrm>
            <a:off x="274320" y="822960"/>
            <a:ext cx="4023000" cy="4114440"/>
          </a:xfrm>
          <a:prstGeom prst="rect">
            <a:avLst/>
          </a:prstGeom>
          <a:solidFill>
            <a:srgbClr val="0d111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"/>
          <p:cNvSpPr/>
          <p:nvPr/>
        </p:nvSpPr>
        <p:spPr>
          <a:xfrm>
            <a:off x="274320" y="822960"/>
            <a:ext cx="4023000" cy="273960"/>
          </a:xfrm>
          <a:prstGeom prst="rect">
            <a:avLst/>
          </a:prstGeom>
          <a:solidFill>
            <a:srgbClr val="161b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365760" y="841320"/>
            <a:ext cx="3840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87171"/>
                </a:solidFill>
                <a:effectLst/>
                <a:uFillTx/>
                <a:latin typeface="Courier New"/>
                <a:ea typeface="Courier New"/>
              </a:rPr>
              <a:t>❌  jQuery / Vanilla JS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5"/>
          <p:cNvSpPr/>
          <p:nvPr/>
        </p:nvSpPr>
        <p:spPr>
          <a:xfrm>
            <a:off x="365760" y="1143000"/>
            <a:ext cx="384012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let count = 0;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function increment() {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count++;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// Atualizar DOM manualmente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document.getElementById('counter')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.innerText = count;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document.getElementById('btn')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.disabled = count &gt;= 10;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if (count &gt; 5) {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document.getElementById('warn')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.style.display = 'block';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}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6"/>
          <p:cNvSpPr/>
          <p:nvPr/>
        </p:nvSpPr>
        <p:spPr>
          <a:xfrm>
            <a:off x="4572000" y="822960"/>
            <a:ext cx="4297320" cy="4114440"/>
          </a:xfrm>
          <a:prstGeom prst="rect">
            <a:avLst/>
          </a:prstGeom>
          <a:solidFill>
            <a:srgbClr val="0d111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7"/>
          <p:cNvSpPr/>
          <p:nvPr/>
        </p:nvSpPr>
        <p:spPr>
          <a:xfrm>
            <a:off x="4572000" y="822960"/>
            <a:ext cx="4297320" cy="273960"/>
          </a:xfrm>
          <a:prstGeom prst="rect">
            <a:avLst/>
          </a:prstGeom>
          <a:solidFill>
            <a:srgbClr val="161b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8"/>
          <p:cNvSpPr/>
          <p:nvPr/>
        </p:nvSpPr>
        <p:spPr>
          <a:xfrm>
            <a:off x="4663440" y="84132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ade80"/>
                </a:solidFill>
                <a:effectLst/>
                <a:uFillTx/>
                <a:latin typeface="Courier New"/>
                <a:ea typeface="Courier New"/>
              </a:rPr>
              <a:t>✅  React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9"/>
          <p:cNvSpPr/>
          <p:nvPr/>
        </p:nvSpPr>
        <p:spPr>
          <a:xfrm>
            <a:off x="4663440" y="1143000"/>
            <a:ext cx="411444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function Counter() {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const [count, setCount]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= useState(0);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return (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&lt;div&gt;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&lt;p&gt;{count}&lt;/p&gt;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{count &gt; 5 &amp;&amp; &lt;Warning /&gt;}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&lt;button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  onClick={() =&gt; setCount(c =&gt; c+1)}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  disabled={count &gt;= 10}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&gt;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  Incrementar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&lt;/button&gt;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&lt;/div&gt;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);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0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365760" y="16452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Problemas que o React Resolve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274320" y="960120"/>
            <a:ext cx="2742840" cy="1737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411480" y="106992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🔄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411480" y="152712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Atualizações reativas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411480" y="185616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O estado muda → a UI atualiza automaticamente. Sem seleção manual de DOM.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6"/>
          <p:cNvSpPr/>
          <p:nvPr/>
        </p:nvSpPr>
        <p:spPr>
          <a:xfrm>
            <a:off x="3227760" y="960120"/>
            <a:ext cx="2742840" cy="1737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3364920" y="106992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🧩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3364920" y="152712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Componentização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3364920" y="185616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Interface dividida em peças reutilizáveis e independentes.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6181200" y="960120"/>
            <a:ext cx="2742840" cy="1737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6318360" y="106992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⚡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6318360" y="152712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Virtual DOM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6318360" y="185616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React calcula o mínimo de mudanças necessárias e aplica de forma eficiente.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4"/>
          <p:cNvSpPr/>
          <p:nvPr/>
        </p:nvSpPr>
        <p:spPr>
          <a:xfrm>
            <a:off x="274320" y="2898720"/>
            <a:ext cx="2742840" cy="1737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5"/>
          <p:cNvSpPr/>
          <p:nvPr/>
        </p:nvSpPr>
        <p:spPr>
          <a:xfrm>
            <a:off x="411480" y="300852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🔀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6"/>
          <p:cNvSpPr/>
          <p:nvPr/>
        </p:nvSpPr>
        <p:spPr>
          <a:xfrm>
            <a:off x="411480" y="346572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Fluxo de dados previsível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7"/>
          <p:cNvSpPr/>
          <p:nvPr/>
        </p:nvSpPr>
        <p:spPr>
          <a:xfrm>
            <a:off x="411480" y="379476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Dados fluem de pai para filho (props), tornando o comportamento previsível.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8"/>
          <p:cNvSpPr/>
          <p:nvPr/>
        </p:nvSpPr>
        <p:spPr>
          <a:xfrm>
            <a:off x="3227760" y="2898720"/>
            <a:ext cx="2742840" cy="1737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9"/>
          <p:cNvSpPr/>
          <p:nvPr/>
        </p:nvSpPr>
        <p:spPr>
          <a:xfrm>
            <a:off x="3364920" y="300852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📦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0"/>
          <p:cNvSpPr/>
          <p:nvPr/>
        </p:nvSpPr>
        <p:spPr>
          <a:xfrm>
            <a:off x="3364920" y="346572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Ecossistema rico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1"/>
          <p:cNvSpPr/>
          <p:nvPr/>
        </p:nvSpPr>
        <p:spPr>
          <a:xfrm>
            <a:off x="3364920" y="379476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Enorme comunidade, bibliotecas e ferramentas para qualquer necessidade.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2"/>
          <p:cNvSpPr/>
          <p:nvPr/>
        </p:nvSpPr>
        <p:spPr>
          <a:xfrm>
            <a:off x="6181200" y="2898720"/>
            <a:ext cx="2742840" cy="1737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3"/>
          <p:cNvSpPr/>
          <p:nvPr/>
        </p:nvSpPr>
        <p:spPr>
          <a:xfrm>
            <a:off x="6318360" y="300852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🌐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4"/>
          <p:cNvSpPr/>
          <p:nvPr/>
        </p:nvSpPr>
        <p:spPr>
          <a:xfrm>
            <a:off x="6318360" y="346572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Universal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5"/>
          <p:cNvSpPr/>
          <p:nvPr/>
        </p:nvSpPr>
        <p:spPr>
          <a:xfrm>
            <a:off x="6318360" y="379476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Web, mobile (React Native), desktop e servidor (Next.js / SSR).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6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457200" y="548640"/>
            <a:ext cx="16455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0" strike="noStrike" u="none">
                <a:solidFill>
                  <a:srgbClr val="fb923c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pt-BR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2103120" y="1188720"/>
            <a:ext cx="64918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História do React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3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365760" y="164520"/>
            <a:ext cx="8412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Linha do Tempo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640080" y="2697480"/>
            <a:ext cx="7863480" cy="54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649080" y="2560320"/>
            <a:ext cx="255600" cy="255600"/>
          </a:xfrm>
          <a:prstGeom prst="ellipse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502920" y="28803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b923c"/>
                </a:solidFill>
                <a:effectLst/>
                <a:uFillTx/>
                <a:latin typeface="Calibri"/>
                <a:ea typeface="Calibri"/>
              </a:rPr>
              <a:t>2011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502920" y="1417320"/>
            <a:ext cx="1234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Jordan Walke cria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'FaxJS' no Facebook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6"/>
          <p:cNvSpPr/>
          <p:nvPr/>
        </p:nvSpPr>
        <p:spPr>
          <a:xfrm>
            <a:off x="777240" y="2423160"/>
            <a:ext cx="360" cy="137160"/>
          </a:xfrm>
          <a:prstGeom prst="line">
            <a:avLst/>
          </a:prstGeom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7"/>
          <p:cNvSpPr/>
          <p:nvPr/>
        </p:nvSpPr>
        <p:spPr>
          <a:xfrm>
            <a:off x="2002680" y="2560320"/>
            <a:ext cx="255600" cy="255600"/>
          </a:xfrm>
          <a:prstGeom prst="ellipse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8"/>
          <p:cNvSpPr/>
          <p:nvPr/>
        </p:nvSpPr>
        <p:spPr>
          <a:xfrm>
            <a:off x="1856160" y="28803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b923c"/>
                </a:solidFill>
                <a:effectLst/>
                <a:uFillTx/>
                <a:latin typeface="Calibri"/>
                <a:ea typeface="Calibri"/>
              </a:rPr>
              <a:t>2013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1856160" y="3246120"/>
            <a:ext cx="1234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React é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lançado como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open source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0"/>
          <p:cNvSpPr/>
          <p:nvPr/>
        </p:nvSpPr>
        <p:spPr>
          <a:xfrm>
            <a:off x="2130480" y="2816280"/>
            <a:ext cx="360" cy="411480"/>
          </a:xfrm>
          <a:prstGeom prst="line">
            <a:avLst/>
          </a:prstGeom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1"/>
          <p:cNvSpPr/>
          <p:nvPr/>
        </p:nvSpPr>
        <p:spPr>
          <a:xfrm>
            <a:off x="3355920" y="2560320"/>
            <a:ext cx="255600" cy="255600"/>
          </a:xfrm>
          <a:prstGeom prst="ellipse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2"/>
          <p:cNvSpPr/>
          <p:nvPr/>
        </p:nvSpPr>
        <p:spPr>
          <a:xfrm>
            <a:off x="3209400" y="28803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b923c"/>
                </a:solidFill>
                <a:effectLst/>
                <a:uFillTx/>
                <a:latin typeface="Calibri"/>
                <a:ea typeface="Calibri"/>
              </a:rPr>
              <a:t>2015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3209400" y="1417320"/>
            <a:ext cx="1234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React Native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e React v0.13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4"/>
          <p:cNvSpPr/>
          <p:nvPr/>
        </p:nvSpPr>
        <p:spPr>
          <a:xfrm>
            <a:off x="3483720" y="2423160"/>
            <a:ext cx="360" cy="137160"/>
          </a:xfrm>
          <a:prstGeom prst="line">
            <a:avLst/>
          </a:prstGeom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5"/>
          <p:cNvSpPr/>
          <p:nvPr/>
        </p:nvSpPr>
        <p:spPr>
          <a:xfrm>
            <a:off x="4709160" y="2560320"/>
            <a:ext cx="255600" cy="255600"/>
          </a:xfrm>
          <a:prstGeom prst="ellipse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6"/>
          <p:cNvSpPr/>
          <p:nvPr/>
        </p:nvSpPr>
        <p:spPr>
          <a:xfrm>
            <a:off x="4563000" y="28803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b923c"/>
                </a:solidFill>
                <a:effectLst/>
                <a:uFillTx/>
                <a:latin typeface="Calibri"/>
                <a:ea typeface="Calibri"/>
              </a:rPr>
              <a:t>2016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7"/>
          <p:cNvSpPr/>
          <p:nvPr/>
        </p:nvSpPr>
        <p:spPr>
          <a:xfrm>
            <a:off x="4563000" y="3246120"/>
            <a:ext cx="1234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React 15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e Fiber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(reescrita interna)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8"/>
          <p:cNvSpPr/>
          <p:nvPr/>
        </p:nvSpPr>
        <p:spPr>
          <a:xfrm>
            <a:off x="4836960" y="2816280"/>
            <a:ext cx="360" cy="411480"/>
          </a:xfrm>
          <a:prstGeom prst="line">
            <a:avLst/>
          </a:prstGeom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9"/>
          <p:cNvSpPr/>
          <p:nvPr/>
        </p:nvSpPr>
        <p:spPr>
          <a:xfrm>
            <a:off x="6062400" y="2560320"/>
            <a:ext cx="255600" cy="255600"/>
          </a:xfrm>
          <a:prstGeom prst="ellipse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0"/>
          <p:cNvSpPr/>
          <p:nvPr/>
        </p:nvSpPr>
        <p:spPr>
          <a:xfrm>
            <a:off x="5916240" y="28803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b923c"/>
                </a:solidFill>
                <a:effectLst/>
                <a:uFillTx/>
                <a:latin typeface="Calibri"/>
                <a:ea typeface="Calibri"/>
              </a:rPr>
              <a:t>2019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1"/>
          <p:cNvSpPr/>
          <p:nvPr/>
        </p:nvSpPr>
        <p:spPr>
          <a:xfrm>
            <a:off x="5916240" y="1417320"/>
            <a:ext cx="1234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Hooks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(useState,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useEffect...)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2"/>
          <p:cNvSpPr/>
          <p:nvPr/>
        </p:nvSpPr>
        <p:spPr>
          <a:xfrm>
            <a:off x="6190200" y="2423160"/>
            <a:ext cx="360" cy="137160"/>
          </a:xfrm>
          <a:prstGeom prst="line">
            <a:avLst/>
          </a:prstGeom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3"/>
          <p:cNvSpPr/>
          <p:nvPr/>
        </p:nvSpPr>
        <p:spPr>
          <a:xfrm>
            <a:off x="7415640" y="2560320"/>
            <a:ext cx="255600" cy="255600"/>
          </a:xfrm>
          <a:prstGeom prst="ellipse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4"/>
          <p:cNvSpPr/>
          <p:nvPr/>
        </p:nvSpPr>
        <p:spPr>
          <a:xfrm>
            <a:off x="7269480" y="28803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b923c"/>
                </a:solidFill>
                <a:effectLst/>
                <a:uFillTx/>
                <a:latin typeface="Calibri"/>
                <a:ea typeface="Calibri"/>
              </a:rPr>
              <a:t>2024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5"/>
          <p:cNvSpPr/>
          <p:nvPr/>
        </p:nvSpPr>
        <p:spPr>
          <a:xfrm>
            <a:off x="7269480" y="3246120"/>
            <a:ext cx="1234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React 19: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Actions, use()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e Server Comp.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6"/>
          <p:cNvSpPr/>
          <p:nvPr/>
        </p:nvSpPr>
        <p:spPr>
          <a:xfrm>
            <a:off x="7543800" y="2816280"/>
            <a:ext cx="360" cy="411480"/>
          </a:xfrm>
          <a:prstGeom prst="line">
            <a:avLst/>
          </a:prstGeom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7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457200" y="548640"/>
            <a:ext cx="16455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0" strike="noStrike" u="none">
                <a:solidFill>
                  <a:srgbClr val="fb923c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pt-BR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2103120" y="1188720"/>
            <a:ext cx="64918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O que é ReactJS?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"/>
          <p:cNvSpPr/>
          <p:nvPr/>
        </p:nvSpPr>
        <p:spPr>
          <a:xfrm>
            <a:off x="45720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O que é ReactJS?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"/>
          <p:cNvSpPr/>
          <p:nvPr/>
        </p:nvSpPr>
        <p:spPr>
          <a:xfrm>
            <a:off x="457200" y="777240"/>
            <a:ext cx="8229240" cy="270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457200" y="914400"/>
            <a:ext cx="82292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8fafc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É uma biblioteca JavaScript (não um framework completo) criada pelo Facebook/Meta.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8fafc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Foca exclusivamente na camada de View (UI) — renderizar componentes na tela.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8fafc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Usa um modelo declarativo: você descreve como a UI deve parecer, React garante que ela apareça assim.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8fafc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Baseado em componentes: pequenos blocos de UI independentes e reutilizáveis.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8fafc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Usa Virtual DOM para comparar o estado anterior com o atual e aplicar somente as mudanças necessárias no DOM real.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8fafc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Pode ser usado com Vite, Create React App, Next.js (SSR), Remix, entre outros.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4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457200" y="548640"/>
            <a:ext cx="16455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0" strike="noStrike" u="none">
                <a:solidFill>
                  <a:srgbClr val="fb923c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pt-BR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"/>
          <p:cNvSpPr/>
          <p:nvPr/>
        </p:nvSpPr>
        <p:spPr>
          <a:xfrm>
            <a:off x="2103120" y="1188720"/>
            <a:ext cx="64918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JSX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3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365760" y="164520"/>
            <a:ext cx="8412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JSX – JavaScript + XML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"/>
          <p:cNvSpPr/>
          <p:nvPr/>
        </p:nvSpPr>
        <p:spPr>
          <a:xfrm>
            <a:off x="274320" y="822960"/>
            <a:ext cx="2925720" cy="4114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"/>
          <p:cNvSpPr/>
          <p:nvPr/>
        </p:nvSpPr>
        <p:spPr>
          <a:xfrm>
            <a:off x="411480" y="914400"/>
            <a:ext cx="26514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JSX é uma extensão de sintaxe do JavaScript que permite escrever HTML dentro do JS.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Não é HTML real — é açúcar sintático. O compilador (Babel/SWC) transforma JSX em chamadas React.createElement().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Expressões JS ficam dentro de chaves { }.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Todo JSX deve ter um único elemento raiz (ou usar &lt;&gt; &lt;/&gt; — Fragment).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Atributos seguem camelCase: className, onClick, htmlFor...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4"/>
          <p:cNvSpPr/>
          <p:nvPr/>
        </p:nvSpPr>
        <p:spPr>
          <a:xfrm>
            <a:off x="3429000" y="822960"/>
            <a:ext cx="5394600" cy="4114440"/>
          </a:xfrm>
          <a:prstGeom prst="rect">
            <a:avLst/>
          </a:prstGeom>
          <a:solidFill>
            <a:srgbClr val="0d111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5"/>
          <p:cNvSpPr/>
          <p:nvPr/>
        </p:nvSpPr>
        <p:spPr>
          <a:xfrm>
            <a:off x="3429000" y="822960"/>
            <a:ext cx="5394600" cy="273960"/>
          </a:xfrm>
          <a:prstGeom prst="rect">
            <a:avLst/>
          </a:prstGeom>
          <a:solidFill>
            <a:srgbClr val="161b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6"/>
          <p:cNvSpPr/>
          <p:nvPr/>
        </p:nvSpPr>
        <p:spPr>
          <a:xfrm>
            <a:off x="3520440" y="84132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ourier New"/>
                <a:ea typeface="Courier New"/>
              </a:rPr>
              <a:t>jsx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7"/>
          <p:cNvSpPr/>
          <p:nvPr/>
        </p:nvSpPr>
        <p:spPr>
          <a:xfrm>
            <a:off x="3520440" y="1143000"/>
            <a:ext cx="521172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// JSX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function Saudacao({ nome }) {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const hora = new Date().getHours();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const turno = hora &lt; 12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? "Bom dia"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: hora &lt; 18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? "Boa tarde"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: "Boa noite";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return (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&lt;div className="card"&gt;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&lt;h1&gt;{turno}, {nome}!&lt;/h1&gt;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&lt;p&gt;São {hora}h agora.&lt;/p&gt;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&lt;/div&gt;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);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// O que o Babel compila: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React.createElement(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"div",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{ className: "card" },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React.createElement("h1", null,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turno, ", ", nome, "!"),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React.createElement("p", null, ...)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8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457200" y="548640"/>
            <a:ext cx="16455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0" strike="noStrike" u="none">
                <a:solidFill>
                  <a:srgbClr val="fb923c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pt-BR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2103120" y="1188720"/>
            <a:ext cx="64918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Componentização e Reutilização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3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365760" y="164520"/>
            <a:ext cx="8412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Paradigma de Componentes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"/>
          <p:cNvSpPr/>
          <p:nvPr/>
        </p:nvSpPr>
        <p:spPr>
          <a:xfrm>
            <a:off x="274320" y="822960"/>
            <a:ext cx="2925720" cy="4114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"/>
          <p:cNvSpPr/>
          <p:nvPr/>
        </p:nvSpPr>
        <p:spPr>
          <a:xfrm>
            <a:off x="411480" y="914400"/>
            <a:ext cx="26514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Componente é uma função que recebe props e retorna JSX.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Props são os dados passados de pai para filho (somente leitura).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Componentes podem ser compostos: um componente usa outros dentro de si.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 reutilização é o grande benefício: escreva uma vez, use em qualquer lugar.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Convenção: nome sempre começa com letra maiúscula.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4"/>
          <p:cNvSpPr/>
          <p:nvPr/>
        </p:nvSpPr>
        <p:spPr>
          <a:xfrm>
            <a:off x="3429000" y="822960"/>
            <a:ext cx="5394600" cy="4114440"/>
          </a:xfrm>
          <a:prstGeom prst="rect">
            <a:avLst/>
          </a:prstGeom>
          <a:solidFill>
            <a:srgbClr val="0d111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5"/>
          <p:cNvSpPr/>
          <p:nvPr/>
        </p:nvSpPr>
        <p:spPr>
          <a:xfrm>
            <a:off x="3429000" y="822960"/>
            <a:ext cx="5394600" cy="273960"/>
          </a:xfrm>
          <a:prstGeom prst="rect">
            <a:avLst/>
          </a:prstGeom>
          <a:solidFill>
            <a:srgbClr val="161b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3520440" y="84132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ourier New"/>
                <a:ea typeface="Courier New"/>
              </a:rPr>
              <a:t>jsx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3520440" y="1143000"/>
            <a:ext cx="521172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// Componente reutilizável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function Botao({ texto, cor, onClick }) {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return (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&lt;button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style={{ background: cor }}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onClick={onClick}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&gt;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{texto}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&lt;/button&gt;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);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// Composição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function App() {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return (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&lt;div&gt;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&lt;Botao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  texto="Salvar"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  cor="green"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  onClick={() =&gt; alert("Salvo!")}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/&gt;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&lt;Botao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  texto="Cancelar"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  cor="red"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  onClick={() =&gt; alert("Cancelado!")}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/&gt;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&lt;/div&gt;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);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8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457200" y="548640"/>
            <a:ext cx="16455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0" strike="noStrike" u="none">
                <a:solidFill>
                  <a:srgbClr val="fb923c"/>
                </a:solidFill>
                <a:effectLst/>
                <a:uFillTx/>
                <a:latin typeface="Calibri"/>
                <a:ea typeface="Calibri"/>
              </a:rPr>
              <a:t>6</a:t>
            </a:r>
            <a:endParaRPr b="0" lang="pt-BR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"/>
          <p:cNvSpPr/>
          <p:nvPr/>
        </p:nvSpPr>
        <p:spPr>
          <a:xfrm>
            <a:off x="2103120" y="1188720"/>
            <a:ext cx="64918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SPA – Single Page Application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3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365760" y="164520"/>
            <a:ext cx="8412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SPA – Single Page Application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"/>
          <p:cNvSpPr/>
          <p:nvPr/>
        </p:nvSpPr>
        <p:spPr>
          <a:xfrm>
            <a:off x="274320" y="822960"/>
            <a:ext cx="3931560" cy="3977280"/>
          </a:xfrm>
          <a:prstGeom prst="rect">
            <a:avLst/>
          </a:prstGeom>
          <a:solidFill>
            <a:srgbClr val="fef2f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"/>
          <p:cNvSpPr/>
          <p:nvPr/>
        </p:nvSpPr>
        <p:spPr>
          <a:xfrm>
            <a:off x="411480" y="9144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❌  Multi-Page App (tradicional)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411480" y="1371600"/>
            <a:ext cx="36572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Cada clique carrega uma nova página inteira do servidor.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Reload completo do browser (pisca a tela).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Mais lento para o usuário.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Servidor precisa renderizar cada rota separadamente.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5"/>
          <p:cNvSpPr/>
          <p:nvPr/>
        </p:nvSpPr>
        <p:spPr>
          <a:xfrm>
            <a:off x="4617720" y="822960"/>
            <a:ext cx="4205880" cy="3977280"/>
          </a:xfrm>
          <a:prstGeom prst="rect">
            <a:avLst/>
          </a:prstGeom>
          <a:solidFill>
            <a:srgbClr val="f0fdf4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4754880" y="91440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5803d"/>
                </a:solidFill>
                <a:effectLst/>
                <a:uFillTx/>
                <a:latin typeface="Calibri"/>
                <a:ea typeface="Calibri"/>
              </a:rPr>
              <a:t>✅  Single Page App (React)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4754880" y="1371600"/>
            <a:ext cx="39315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HTML, CSS e JS carregados UMA vez.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Navegação troca apenas o conteúdo (via JavaScript).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Experiência fluida, sem piscar.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React Router controla as rotas no client-side.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APIs REST/GraphQL fornecem os dados.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8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457200" y="548640"/>
            <a:ext cx="16455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0" strike="noStrike" u="none">
                <a:solidFill>
                  <a:srgbClr val="fb923c"/>
                </a:solidFill>
                <a:effectLst/>
                <a:uFillTx/>
                <a:latin typeface="Calibri"/>
                <a:ea typeface="Calibri"/>
              </a:rPr>
              <a:t>7</a:t>
            </a:r>
            <a:endParaRPr b="0" lang="pt-BR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2103120" y="1188720"/>
            <a:ext cx="64918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State (Estado)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365760" y="164520"/>
            <a:ext cx="8412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useState – Gerenciando Estado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"/>
          <p:cNvSpPr/>
          <p:nvPr/>
        </p:nvSpPr>
        <p:spPr>
          <a:xfrm>
            <a:off x="274320" y="822960"/>
            <a:ext cx="2925720" cy="4114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"/>
          <p:cNvSpPr/>
          <p:nvPr/>
        </p:nvSpPr>
        <p:spPr>
          <a:xfrm>
            <a:off x="411480" y="914400"/>
            <a:ext cx="26514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State é a memória interna de um componente.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Quando o estado muda, React re-renderiza o componente automaticamente.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useState retorna: [valorAtual, funçãoDeAtualização].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Nunca mute o estado diretamente! Use sempre a função setter.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f172a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Para objetos/arrays, crie uma nova cópia — React usa comparação por referência.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4"/>
          <p:cNvSpPr/>
          <p:nvPr/>
        </p:nvSpPr>
        <p:spPr>
          <a:xfrm>
            <a:off x="3429000" y="822960"/>
            <a:ext cx="5394600" cy="4114440"/>
          </a:xfrm>
          <a:prstGeom prst="rect">
            <a:avLst/>
          </a:prstGeom>
          <a:solidFill>
            <a:srgbClr val="0d111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5"/>
          <p:cNvSpPr/>
          <p:nvPr/>
        </p:nvSpPr>
        <p:spPr>
          <a:xfrm>
            <a:off x="3429000" y="822960"/>
            <a:ext cx="5394600" cy="273960"/>
          </a:xfrm>
          <a:prstGeom prst="rect">
            <a:avLst/>
          </a:prstGeom>
          <a:solidFill>
            <a:srgbClr val="161b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3520440" y="84132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ourier New"/>
                <a:ea typeface="Courier New"/>
              </a:rPr>
              <a:t>jsx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7"/>
          <p:cNvSpPr/>
          <p:nvPr/>
        </p:nvSpPr>
        <p:spPr>
          <a:xfrm>
            <a:off x="3520440" y="1143000"/>
            <a:ext cx="521172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import { useState } from 'react';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function Carrinho() {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const [itens, setItens] = useState([]);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const [total, setTotal] = useState(0);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function adicionarItem(produto) {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// ✅ Nova cópia do array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setItens(prev =&gt; [...prev, produto]);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setTotal(prev =&gt; prev + produto.preco);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}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return (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&lt;div&gt;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&lt;p&gt;🛒 {itens.length} itens&lt;/p&gt;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&lt;p&gt;Total: R$ {total.toFixed(2)}&lt;/p&gt;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&lt;ul&gt;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  {itens.map(item =&gt; (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    &lt;li key={item.id}&gt;{item.nome}&lt;/li&gt;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  ))}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&lt;/ul&gt;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&lt;/div&gt;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);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8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"/>
          <p:cNvSpPr/>
          <p:nvPr/>
        </p:nvSpPr>
        <p:spPr>
          <a:xfrm>
            <a:off x="457200" y="548640"/>
            <a:ext cx="16455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0" strike="noStrike" u="none">
                <a:solidFill>
                  <a:srgbClr val="fb923c"/>
                </a:solidFill>
                <a:effectLst/>
                <a:uFillTx/>
                <a:latin typeface="Calibri"/>
                <a:ea typeface="Calibri"/>
              </a:rPr>
              <a:t>8</a:t>
            </a:r>
            <a:endParaRPr b="0" lang="pt-BR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"/>
          <p:cNvSpPr/>
          <p:nvPr/>
        </p:nvSpPr>
        <p:spPr>
          <a:xfrm>
            <a:off x="2103120" y="1188720"/>
            <a:ext cx="64918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useEffect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3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365760" y="164520"/>
            <a:ext cx="8412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useEffect – Efeitos Colaterais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"/>
          <p:cNvSpPr/>
          <p:nvPr/>
        </p:nvSpPr>
        <p:spPr>
          <a:xfrm>
            <a:off x="274320" y="822960"/>
            <a:ext cx="8595000" cy="3931560"/>
          </a:xfrm>
          <a:prstGeom prst="rect">
            <a:avLst/>
          </a:prstGeom>
          <a:solidFill>
            <a:srgbClr val="0d111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"/>
          <p:cNvSpPr/>
          <p:nvPr/>
        </p:nvSpPr>
        <p:spPr>
          <a:xfrm>
            <a:off x="274320" y="822960"/>
            <a:ext cx="8595000" cy="273960"/>
          </a:xfrm>
          <a:prstGeom prst="rect">
            <a:avLst/>
          </a:prstGeom>
          <a:solidFill>
            <a:srgbClr val="161b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365760" y="84132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ourier New"/>
                <a:ea typeface="Courier New"/>
              </a:rPr>
              <a:t>jsx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411480" y="1143000"/>
            <a:ext cx="841212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import { useState, useEffect } from 'react';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function Usuarios() {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const [usuarios, setUsuarios] = useState([]);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const [busca, setBusca] = useState('');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useEffect(() =&gt; {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const ctrl = new AbortController();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fetch(`/api/usuarios?q=${busca}`, { signal: ctrl.signal })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.then(r =&gt; r.json()).then(setUsuarios).catch(() =&gt; {});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return () =&gt; ctrl.abort(); // ← cleanup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}, [busca]); // ← array de dependências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return (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&lt;div&gt;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&lt;input value={busca}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  onChange={e =&gt; setBusca(e.target.value)} /&gt;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{usuarios.map(u =&gt; &lt;p key={u.id}&gt;{u.nome}&lt;/p&gt;)}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&lt;/div&gt;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6"/>
          <p:cNvSpPr/>
          <p:nvPr/>
        </p:nvSpPr>
        <p:spPr>
          <a:xfrm>
            <a:off x="274320" y="4800600"/>
            <a:ext cx="8595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[] vazio → só na montagem  |  [dep] → toda vez que dep mudar  |  sem array → todo render (cuidado!)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7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"/>
          <p:cNvSpPr/>
          <p:nvPr/>
        </p:nvSpPr>
        <p:spPr>
          <a:xfrm>
            <a:off x="457200" y="548640"/>
            <a:ext cx="16455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0" strike="noStrike" u="none">
                <a:solidFill>
                  <a:srgbClr val="fb923c"/>
                </a:solidFill>
                <a:effectLst/>
                <a:uFillTx/>
                <a:latin typeface="Calibri"/>
                <a:ea typeface="Calibri"/>
              </a:rPr>
              <a:t>9</a:t>
            </a:r>
            <a:endParaRPr b="0" lang="pt-BR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"/>
          <p:cNvSpPr/>
          <p:nvPr/>
        </p:nvSpPr>
        <p:spPr>
          <a:xfrm>
            <a:off x="2103120" y="1188720"/>
            <a:ext cx="64918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useMemo e useCallback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3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365760" y="164520"/>
            <a:ext cx="8412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useMemo – Memorizar Valores Calculados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274320" y="822960"/>
            <a:ext cx="8595000" cy="3931560"/>
          </a:xfrm>
          <a:prstGeom prst="rect">
            <a:avLst/>
          </a:prstGeom>
          <a:solidFill>
            <a:srgbClr val="0d111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"/>
          <p:cNvSpPr/>
          <p:nvPr/>
        </p:nvSpPr>
        <p:spPr>
          <a:xfrm>
            <a:off x="274320" y="822960"/>
            <a:ext cx="8595000" cy="273960"/>
          </a:xfrm>
          <a:prstGeom prst="rect">
            <a:avLst/>
          </a:prstGeom>
          <a:solidFill>
            <a:srgbClr val="161b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365760" y="84132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ourier New"/>
                <a:ea typeface="Courier New"/>
              </a:rPr>
              <a:t>jsx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411480" y="1143000"/>
            <a:ext cx="841212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import { useState, useMemo } from 'react';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function Relatorio({ vendas }) {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const [filtro, setFiltro] = useState('todos');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// ❌ Sem useMemo: recalcula em CADA render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// const resultado = filtrarECalcular(vendas, filtro); // pesado!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// ✅ Com useMemo: só recalcula quando 'vendas' ou 'filtro' mudarem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const resultado = useMemo(() =&gt; {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console.log('Recalculando...');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return vendas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.filter(v =&gt; filtro === 'todos' || v.tipo === filtro)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.reduce((acc, v) =&gt; acc + v.valor, 0);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}, [vendas, filtro]);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return (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&lt;div&gt;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&lt;select onChange={e =&gt; setFiltro(e.target.value)}&gt;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  &lt;option value="todos"&gt;Todos&lt;/option&gt;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  &lt;option value="produto"&gt;Produtos&lt;/option&gt;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  &lt;option value="servico"&gt;Serviços&lt;/option&gt;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&lt;/select&gt;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&lt;h2&gt;Total: R$ {resultado.toFixed(2)}&lt;/h2&gt;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&lt;/div&gt;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6"/>
          <p:cNvSpPr/>
          <p:nvPr/>
        </p:nvSpPr>
        <p:spPr>
          <a:xfrm>
            <a:off x="274320" y="4800600"/>
            <a:ext cx="8595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Use useMemo apenas para cálculos custosos. Memoização tem custo — não aplique em tudo.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7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365760" y="164520"/>
            <a:ext cx="8412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useCallback – Memorizar Funções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"/>
          <p:cNvSpPr/>
          <p:nvPr/>
        </p:nvSpPr>
        <p:spPr>
          <a:xfrm>
            <a:off x="274320" y="822960"/>
            <a:ext cx="8595000" cy="3931560"/>
          </a:xfrm>
          <a:prstGeom prst="rect">
            <a:avLst/>
          </a:prstGeom>
          <a:solidFill>
            <a:srgbClr val="0d111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3"/>
          <p:cNvSpPr/>
          <p:nvPr/>
        </p:nvSpPr>
        <p:spPr>
          <a:xfrm>
            <a:off x="274320" y="822960"/>
            <a:ext cx="8595000" cy="273960"/>
          </a:xfrm>
          <a:prstGeom prst="rect">
            <a:avLst/>
          </a:prstGeom>
          <a:solidFill>
            <a:srgbClr val="161b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4"/>
          <p:cNvSpPr/>
          <p:nvPr/>
        </p:nvSpPr>
        <p:spPr>
          <a:xfrm>
            <a:off x="365760" y="84132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ourier New"/>
                <a:ea typeface="Courier New"/>
              </a:rPr>
              <a:t>jsx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5"/>
          <p:cNvSpPr/>
          <p:nvPr/>
        </p:nvSpPr>
        <p:spPr>
          <a:xfrm>
            <a:off x="411480" y="1143000"/>
            <a:ext cx="841212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import { useState, useCallback, memo } from 'react';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// Componente filho memoizado — só re-renderiza se props mudarem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const BotaoAdicionar = memo(({ onAdicionar }) =&gt; {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console.log('BotaoAdicionar renderizou');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return &lt;button onClick={onAdicionar}&gt;Adicionar&lt;/button&gt;;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});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function Lista() {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const [itens, setItens] = useState([]);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const [outro, setOutro] = useState(0);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// ❌ Sem useCallback: nova função criada a cada render → memo() ineficaz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// const adicionar = () =&gt; setItens(p =&gt; [...p, Date.now()]);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// ✅ Com useCallback: mesma referência de função entre renders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const adicionar = useCallback(() =&gt; {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setItens(p =&gt; [...p, Date.now()]);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}, []); // sem deps → nunca recria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return (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&lt;div&gt;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&lt;BotaoAdicionar onAdicionar={adicionar} /&gt;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&lt;button onClick={() =&gt; setOutro(n =&gt; n + 1)}&gt;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  Outro estado ({outro})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&lt;/button&gt;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&lt;p&gt;{itens.length} itens&lt;/p&gt;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&lt;/div&gt;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6"/>
          <p:cNvSpPr/>
          <p:nvPr/>
        </p:nvSpPr>
        <p:spPr>
          <a:xfrm>
            <a:off x="274320" y="4800600"/>
            <a:ext cx="8595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useCallback é a versão de useMemo para funções. Muito útil junto com React.memo().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7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365760" y="164520"/>
            <a:ext cx="8412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Quando Usar Cada Hook de Performance?</a:t>
            </a:r>
            <a:endParaRPr b="0" lang="pt-B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"/>
          <p:cNvSpPr/>
          <p:nvPr/>
        </p:nvSpPr>
        <p:spPr>
          <a:xfrm>
            <a:off x="274320" y="822960"/>
            <a:ext cx="8595000" cy="4111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320040" y="84132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Hook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1691640" y="84132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Quando usar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5806440" y="84132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Cuidado ⚠️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6"/>
          <p:cNvSpPr/>
          <p:nvPr/>
        </p:nvSpPr>
        <p:spPr>
          <a:xfrm>
            <a:off x="274320" y="1298520"/>
            <a:ext cx="8595000" cy="1005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7"/>
          <p:cNvSpPr/>
          <p:nvPr/>
        </p:nvSpPr>
        <p:spPr>
          <a:xfrm>
            <a:off x="365760" y="1389960"/>
            <a:ext cx="1279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ea5e9"/>
                </a:solidFill>
                <a:effectLst/>
                <a:uFillTx/>
                <a:latin typeface="Courier New"/>
                <a:ea typeface="Courier New"/>
              </a:rPr>
              <a:t>useEffect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8"/>
          <p:cNvSpPr/>
          <p:nvPr/>
        </p:nvSpPr>
        <p:spPr>
          <a:xfrm>
            <a:off x="1691640" y="1389960"/>
            <a:ext cx="4023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Efeitos colaterais: fetch, timers, subscriptions, DOM manual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9"/>
          <p:cNvSpPr/>
          <p:nvPr/>
        </p:nvSpPr>
        <p:spPr>
          <a:xfrm>
            <a:off x="5760720" y="1389960"/>
            <a:ext cx="3017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Dependências incorretas causam loops ou dados desatualizados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0"/>
          <p:cNvSpPr/>
          <p:nvPr/>
        </p:nvSpPr>
        <p:spPr>
          <a:xfrm>
            <a:off x="274320" y="2414160"/>
            <a:ext cx="8595000" cy="1005480"/>
          </a:xfrm>
          <a:prstGeom prst="rect">
            <a:avLst/>
          </a:prstGeom>
          <a:solidFill>
            <a:srgbClr val="f1f5f9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1"/>
          <p:cNvSpPr/>
          <p:nvPr/>
        </p:nvSpPr>
        <p:spPr>
          <a:xfrm>
            <a:off x="365760" y="2505600"/>
            <a:ext cx="1279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ea5e9"/>
                </a:solidFill>
                <a:effectLst/>
                <a:uFillTx/>
                <a:latin typeface="Courier New"/>
                <a:ea typeface="Courier New"/>
              </a:rPr>
              <a:t>useMemo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2"/>
          <p:cNvSpPr/>
          <p:nvPr/>
        </p:nvSpPr>
        <p:spPr>
          <a:xfrm>
            <a:off x="1691640" y="2505600"/>
            <a:ext cx="4023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Cálculos custosos que dependem de valores que mudam pouco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3"/>
          <p:cNvSpPr/>
          <p:nvPr/>
        </p:nvSpPr>
        <p:spPr>
          <a:xfrm>
            <a:off x="5760720" y="2505600"/>
            <a:ext cx="3017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Memoização tem custo. Só use quando o cálculo for realmente pesado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4"/>
          <p:cNvSpPr/>
          <p:nvPr/>
        </p:nvSpPr>
        <p:spPr>
          <a:xfrm>
            <a:off x="274320" y="3529440"/>
            <a:ext cx="8595000" cy="1005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5"/>
          <p:cNvSpPr/>
          <p:nvPr/>
        </p:nvSpPr>
        <p:spPr>
          <a:xfrm>
            <a:off x="365760" y="3620880"/>
            <a:ext cx="1279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ea5e9"/>
                </a:solidFill>
                <a:effectLst/>
                <a:uFillTx/>
                <a:latin typeface="Courier New"/>
                <a:ea typeface="Courier New"/>
              </a:rPr>
              <a:t>useCallback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6"/>
          <p:cNvSpPr/>
          <p:nvPr/>
        </p:nvSpPr>
        <p:spPr>
          <a:xfrm>
            <a:off x="1691640" y="3620880"/>
            <a:ext cx="4023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Funções passadas como props para componentes memoizados (memo)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7"/>
          <p:cNvSpPr/>
          <p:nvPr/>
        </p:nvSpPr>
        <p:spPr>
          <a:xfrm>
            <a:off x="5760720" y="3620880"/>
            <a:ext cx="3017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Ineficaz sem React.memo() no filho. Não use indiscriminadamente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8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"/>
          <p:cNvSpPr/>
          <p:nvPr/>
        </p:nvSpPr>
        <p:spPr>
          <a:xfrm>
            <a:off x="457200" y="548640"/>
            <a:ext cx="16455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0" strike="noStrike" u="none">
                <a:solidFill>
                  <a:srgbClr val="fb923c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b="0" lang="pt-BR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"/>
          <p:cNvSpPr/>
          <p:nvPr/>
        </p:nvSpPr>
        <p:spPr>
          <a:xfrm>
            <a:off x="2103120" y="1188720"/>
            <a:ext cx="64918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Novidades – React 19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3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"/>
          <p:cNvSpPr/>
          <p:nvPr/>
        </p:nvSpPr>
        <p:spPr>
          <a:xfrm>
            <a:off x="365760" y="164520"/>
            <a:ext cx="8412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React 19 – Principais Novidades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"/>
          <p:cNvSpPr/>
          <p:nvPr/>
        </p:nvSpPr>
        <p:spPr>
          <a:xfrm>
            <a:off x="274320" y="914400"/>
            <a:ext cx="278856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3"/>
          <p:cNvSpPr/>
          <p:nvPr/>
        </p:nvSpPr>
        <p:spPr>
          <a:xfrm>
            <a:off x="274320" y="914400"/>
            <a:ext cx="2788560" cy="5436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4"/>
          <p:cNvSpPr/>
          <p:nvPr/>
        </p:nvSpPr>
        <p:spPr>
          <a:xfrm>
            <a:off x="411480" y="1005840"/>
            <a:ext cx="502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⚡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5"/>
          <p:cNvSpPr/>
          <p:nvPr/>
        </p:nvSpPr>
        <p:spPr>
          <a:xfrm>
            <a:off x="896040" y="1042560"/>
            <a:ext cx="2057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Actions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6"/>
          <p:cNvSpPr/>
          <p:nvPr/>
        </p:nvSpPr>
        <p:spPr>
          <a:xfrm>
            <a:off x="411480" y="1463040"/>
            <a:ext cx="254160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Funções assíncronas que gerenciam transições, loading e erros automaticamente. Acabou com o boilerplate de isPending.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7"/>
          <p:cNvSpPr/>
          <p:nvPr/>
        </p:nvSpPr>
        <p:spPr>
          <a:xfrm>
            <a:off x="3227760" y="914400"/>
            <a:ext cx="278856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8"/>
          <p:cNvSpPr/>
          <p:nvPr/>
        </p:nvSpPr>
        <p:spPr>
          <a:xfrm>
            <a:off x="3227760" y="914400"/>
            <a:ext cx="2788560" cy="5436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9"/>
          <p:cNvSpPr/>
          <p:nvPr/>
        </p:nvSpPr>
        <p:spPr>
          <a:xfrm>
            <a:off x="3364920" y="1005840"/>
            <a:ext cx="502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🪝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0"/>
          <p:cNvSpPr/>
          <p:nvPr/>
        </p:nvSpPr>
        <p:spPr>
          <a:xfrm>
            <a:off x="3849480" y="1042560"/>
            <a:ext cx="2057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useActionState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1"/>
          <p:cNvSpPr/>
          <p:nvPr/>
        </p:nvSpPr>
        <p:spPr>
          <a:xfrm>
            <a:off x="3364920" y="1463040"/>
            <a:ext cx="254160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Hook para gerenciar estado de formulários com actions — substitui padrões repetitivos de formulário.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2"/>
          <p:cNvSpPr/>
          <p:nvPr/>
        </p:nvSpPr>
        <p:spPr>
          <a:xfrm>
            <a:off x="6181200" y="914400"/>
            <a:ext cx="278856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3"/>
          <p:cNvSpPr/>
          <p:nvPr/>
        </p:nvSpPr>
        <p:spPr>
          <a:xfrm>
            <a:off x="6181200" y="914400"/>
            <a:ext cx="2788560" cy="5436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4"/>
          <p:cNvSpPr/>
          <p:nvPr/>
        </p:nvSpPr>
        <p:spPr>
          <a:xfrm>
            <a:off x="6318360" y="1005840"/>
            <a:ext cx="502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📄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5"/>
          <p:cNvSpPr/>
          <p:nvPr/>
        </p:nvSpPr>
        <p:spPr>
          <a:xfrm>
            <a:off x="6803280" y="1042560"/>
            <a:ext cx="2057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use()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6"/>
          <p:cNvSpPr/>
          <p:nvPr/>
        </p:nvSpPr>
        <p:spPr>
          <a:xfrm>
            <a:off x="6318360" y="1463040"/>
            <a:ext cx="254160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Nova API que permite consumir Promises e Contexts dentro de condicionais e loops — algo impossível com hooks.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7"/>
          <p:cNvSpPr/>
          <p:nvPr/>
        </p:nvSpPr>
        <p:spPr>
          <a:xfrm>
            <a:off x="274320" y="2871360"/>
            <a:ext cx="278856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8"/>
          <p:cNvSpPr/>
          <p:nvPr/>
        </p:nvSpPr>
        <p:spPr>
          <a:xfrm>
            <a:off x="274320" y="2871360"/>
            <a:ext cx="2788560" cy="5436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9"/>
          <p:cNvSpPr/>
          <p:nvPr/>
        </p:nvSpPr>
        <p:spPr>
          <a:xfrm>
            <a:off x="411480" y="2962800"/>
            <a:ext cx="502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🌐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0"/>
          <p:cNvSpPr/>
          <p:nvPr/>
        </p:nvSpPr>
        <p:spPr>
          <a:xfrm>
            <a:off x="896040" y="2999160"/>
            <a:ext cx="2057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Server Components (estável)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1"/>
          <p:cNvSpPr/>
          <p:nvPr/>
        </p:nvSpPr>
        <p:spPr>
          <a:xfrm>
            <a:off x="411480" y="3420000"/>
            <a:ext cx="254160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Componentes que rodam somente no servidor — zero JS no cliente, acesso direto a bancos e APIs.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2"/>
          <p:cNvSpPr/>
          <p:nvPr/>
        </p:nvSpPr>
        <p:spPr>
          <a:xfrm>
            <a:off x="3227760" y="2871360"/>
            <a:ext cx="278856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3"/>
          <p:cNvSpPr/>
          <p:nvPr/>
        </p:nvSpPr>
        <p:spPr>
          <a:xfrm>
            <a:off x="3227760" y="2871360"/>
            <a:ext cx="2788560" cy="5436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4"/>
          <p:cNvSpPr/>
          <p:nvPr/>
        </p:nvSpPr>
        <p:spPr>
          <a:xfrm>
            <a:off x="3364920" y="2962800"/>
            <a:ext cx="502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📋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5"/>
          <p:cNvSpPr/>
          <p:nvPr/>
        </p:nvSpPr>
        <p:spPr>
          <a:xfrm>
            <a:off x="3849480" y="2999160"/>
            <a:ext cx="2057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useFormStatus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6"/>
          <p:cNvSpPr/>
          <p:nvPr/>
        </p:nvSpPr>
        <p:spPr>
          <a:xfrm>
            <a:off x="3364920" y="3420000"/>
            <a:ext cx="254160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Acessa o estado do form pai (pending, data, method) sem prop drilling.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27"/>
          <p:cNvSpPr/>
          <p:nvPr/>
        </p:nvSpPr>
        <p:spPr>
          <a:xfrm>
            <a:off x="6181200" y="2871360"/>
            <a:ext cx="278856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28"/>
          <p:cNvSpPr/>
          <p:nvPr/>
        </p:nvSpPr>
        <p:spPr>
          <a:xfrm>
            <a:off x="6181200" y="2871360"/>
            <a:ext cx="2788560" cy="5436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9"/>
          <p:cNvSpPr/>
          <p:nvPr/>
        </p:nvSpPr>
        <p:spPr>
          <a:xfrm>
            <a:off x="6318360" y="2962800"/>
            <a:ext cx="502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🔍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30"/>
          <p:cNvSpPr/>
          <p:nvPr/>
        </p:nvSpPr>
        <p:spPr>
          <a:xfrm>
            <a:off x="6803280" y="2999160"/>
            <a:ext cx="2057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useOptimistic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31"/>
          <p:cNvSpPr/>
          <p:nvPr/>
        </p:nvSpPr>
        <p:spPr>
          <a:xfrm>
            <a:off x="6318360" y="3420000"/>
            <a:ext cx="254160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Atualiza a UI imediatamente (otimista) enquanto a operação assíncrona ainda está em andamento.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32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"/>
          <p:cNvSpPr/>
          <p:nvPr/>
        </p:nvSpPr>
        <p:spPr>
          <a:xfrm>
            <a:off x="365760" y="164520"/>
            <a:ext cx="8412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React 19 – Actions e useActionState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2"/>
          <p:cNvSpPr/>
          <p:nvPr/>
        </p:nvSpPr>
        <p:spPr>
          <a:xfrm>
            <a:off x="274320" y="822960"/>
            <a:ext cx="8595000" cy="3931560"/>
          </a:xfrm>
          <a:prstGeom prst="rect">
            <a:avLst/>
          </a:prstGeom>
          <a:solidFill>
            <a:srgbClr val="0d111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3"/>
          <p:cNvSpPr/>
          <p:nvPr/>
        </p:nvSpPr>
        <p:spPr>
          <a:xfrm>
            <a:off x="274320" y="822960"/>
            <a:ext cx="8595000" cy="273960"/>
          </a:xfrm>
          <a:prstGeom prst="rect">
            <a:avLst/>
          </a:prstGeom>
          <a:solidFill>
            <a:srgbClr val="161b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4"/>
          <p:cNvSpPr/>
          <p:nvPr/>
        </p:nvSpPr>
        <p:spPr>
          <a:xfrm>
            <a:off x="365760" y="84132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ourier New"/>
                <a:ea typeface="Courier New"/>
              </a:rPr>
              <a:t>jsx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5"/>
          <p:cNvSpPr/>
          <p:nvPr/>
        </p:nvSpPr>
        <p:spPr>
          <a:xfrm>
            <a:off x="411480" y="1143000"/>
            <a:ext cx="841212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import { useActionState } from 'react';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// 'action' recebe o estado anterior e os dados do form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async function enviarContato(estadoAnterior, formData) {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const nome  = formData.get('nome');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const email = formData.get('email');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const res = await fetch('/api/contato', {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method: 'POST',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body: JSON.stringify({ nome, email }),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});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if (!res.ok) return { erro: 'Falha ao enviar. Tente novamente.' };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return { sucesso: true };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function FormContato() {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const [estado, dispatch, isPending] = useActionState(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enviarContato,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{ erro: null, sucesso: false }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return (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&lt;form action={dispatch}&gt;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&lt;input name="nome"  placeholder="Seu nome"  required /&gt;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&lt;input name="email" placeholder="Seu email" required /&gt;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{estado.erro     &amp;&amp; &lt;p style={{ color: 'red' }}&gt;{estado.erro}&lt;/p&gt;}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{estado.sucesso  &amp;&amp; &lt;p style={{ color: 'green' }}&gt;Enviado! ✅&lt;/p&gt;}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&lt;button disabled={isPending}&gt;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  {isPending ? 'Enviando...' : 'Enviar'}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&lt;/button&gt;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&lt;/form&gt;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6"/>
          <p:cNvSpPr/>
          <p:nvPr/>
        </p:nvSpPr>
        <p:spPr>
          <a:xfrm>
            <a:off x="274320" y="4800600"/>
            <a:ext cx="8595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Actions eliminam o padrão repetitivo: useState + try/catch + isPending + reset de formulário.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7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"/>
          <p:cNvSpPr/>
          <p:nvPr/>
        </p:nvSpPr>
        <p:spPr>
          <a:xfrm>
            <a:off x="365760" y="164520"/>
            <a:ext cx="8412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React 19 – use() e useOptimistic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2"/>
          <p:cNvSpPr/>
          <p:nvPr/>
        </p:nvSpPr>
        <p:spPr>
          <a:xfrm>
            <a:off x="274320" y="822960"/>
            <a:ext cx="8595000" cy="3931560"/>
          </a:xfrm>
          <a:prstGeom prst="rect">
            <a:avLst/>
          </a:prstGeom>
          <a:solidFill>
            <a:srgbClr val="0d111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3"/>
          <p:cNvSpPr/>
          <p:nvPr/>
        </p:nvSpPr>
        <p:spPr>
          <a:xfrm>
            <a:off x="274320" y="822960"/>
            <a:ext cx="8595000" cy="273960"/>
          </a:xfrm>
          <a:prstGeom prst="rect">
            <a:avLst/>
          </a:prstGeom>
          <a:solidFill>
            <a:srgbClr val="161b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4"/>
          <p:cNvSpPr/>
          <p:nvPr/>
        </p:nvSpPr>
        <p:spPr>
          <a:xfrm>
            <a:off x="365760" y="84132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ourier New"/>
                <a:ea typeface="Courier New"/>
              </a:rPr>
              <a:t>jsx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5"/>
          <p:cNvSpPr/>
          <p:nvPr/>
        </p:nvSpPr>
        <p:spPr>
          <a:xfrm>
            <a:off x="411480" y="1143000"/>
            <a:ext cx="841212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import { use, useOptimistic, useState } from 'react';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// use() — consumir Promise ou Context dentro de condicionais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function Perfil({ promiseUsuario }) {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// Suspense captura o Promise automaticamente!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const usuario = use(promiseUsuario);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return &lt;h1&gt;Olá, {usuario.nome}!&lt;/h1&gt;;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// ─────────────────────────────────────────────────────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// useOptimistic — UI otimista enquanto operação está pendente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function ListaTarefas({ tarefas }) {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const [tarefasOtimistas, adicionarOtimista] =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useOptimistic(tarefas);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async function adicionarTarefa(texto) {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// Mostra imediatamente na UI: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adicionarOtimista([...tarefas, { id: 'temp', texto }]);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// Depois sincroniza com o servidor: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await fetch('/api/tarefas', {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  method: 'POST', body: JSON.stringify({ texto })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  });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}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  // ...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5f3fc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6"/>
          <p:cNvSpPr/>
          <p:nvPr/>
        </p:nvSpPr>
        <p:spPr>
          <a:xfrm>
            <a:off x="274320" y="4800600"/>
            <a:ext cx="8595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use() pode ser chamado dentro de if/else e loops — algo impossível com hooks tradicionais.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7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457200" y="22860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Resumo</a:t>
            </a:r>
            <a:endParaRPr b="0" lang="pt-BR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"/>
          <p:cNvSpPr/>
          <p:nvPr/>
        </p:nvSpPr>
        <p:spPr>
          <a:xfrm>
            <a:off x="228600" y="932760"/>
            <a:ext cx="4315680" cy="84096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3"/>
          <p:cNvSpPr/>
          <p:nvPr/>
        </p:nvSpPr>
        <p:spPr>
          <a:xfrm>
            <a:off x="228600" y="932760"/>
            <a:ext cx="63720" cy="8409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4"/>
          <p:cNvSpPr/>
          <p:nvPr/>
        </p:nvSpPr>
        <p:spPr>
          <a:xfrm>
            <a:off x="365760" y="98748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Por que React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5"/>
          <p:cNvSpPr/>
          <p:nvPr/>
        </p:nvSpPr>
        <p:spPr>
          <a:xfrm>
            <a:off x="365760" y="1261800"/>
            <a:ext cx="4114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Surgiu para resolver a manipulação manual e caótica do DOM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6"/>
          <p:cNvSpPr/>
          <p:nvPr/>
        </p:nvSpPr>
        <p:spPr>
          <a:xfrm>
            <a:off x="4754880" y="932760"/>
            <a:ext cx="4315680" cy="84096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7"/>
          <p:cNvSpPr/>
          <p:nvPr/>
        </p:nvSpPr>
        <p:spPr>
          <a:xfrm>
            <a:off x="4754880" y="932760"/>
            <a:ext cx="63720" cy="8409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8"/>
          <p:cNvSpPr/>
          <p:nvPr/>
        </p:nvSpPr>
        <p:spPr>
          <a:xfrm>
            <a:off x="4892040" y="98748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JSX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9"/>
          <p:cNvSpPr/>
          <p:nvPr/>
        </p:nvSpPr>
        <p:spPr>
          <a:xfrm>
            <a:off x="4892040" y="1261800"/>
            <a:ext cx="4114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Sintaxe que mistura JS e HTML, compilada para React.createElement()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0"/>
          <p:cNvSpPr/>
          <p:nvPr/>
        </p:nvSpPr>
        <p:spPr>
          <a:xfrm>
            <a:off x="228600" y="1911240"/>
            <a:ext cx="4315680" cy="84096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1"/>
          <p:cNvSpPr/>
          <p:nvPr/>
        </p:nvSpPr>
        <p:spPr>
          <a:xfrm>
            <a:off x="228600" y="1911240"/>
            <a:ext cx="63720" cy="8409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2"/>
          <p:cNvSpPr/>
          <p:nvPr/>
        </p:nvSpPr>
        <p:spPr>
          <a:xfrm>
            <a:off x="365760" y="19659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Componentes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3"/>
          <p:cNvSpPr/>
          <p:nvPr/>
        </p:nvSpPr>
        <p:spPr>
          <a:xfrm>
            <a:off x="365760" y="2240280"/>
            <a:ext cx="4114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Blocos reutilizáveis e independentes que compõem a UI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4"/>
          <p:cNvSpPr/>
          <p:nvPr/>
        </p:nvSpPr>
        <p:spPr>
          <a:xfrm>
            <a:off x="4754880" y="1911240"/>
            <a:ext cx="4315680" cy="84096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5"/>
          <p:cNvSpPr/>
          <p:nvPr/>
        </p:nvSpPr>
        <p:spPr>
          <a:xfrm>
            <a:off x="4754880" y="1911240"/>
            <a:ext cx="63720" cy="8409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6"/>
          <p:cNvSpPr/>
          <p:nvPr/>
        </p:nvSpPr>
        <p:spPr>
          <a:xfrm>
            <a:off x="4892040" y="19659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SPA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7"/>
          <p:cNvSpPr/>
          <p:nvPr/>
        </p:nvSpPr>
        <p:spPr>
          <a:xfrm>
            <a:off x="4892040" y="2240280"/>
            <a:ext cx="4114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Uma única página, navegação fluida via JavaScript no client-side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8"/>
          <p:cNvSpPr/>
          <p:nvPr/>
        </p:nvSpPr>
        <p:spPr>
          <a:xfrm>
            <a:off x="228600" y="2889360"/>
            <a:ext cx="4315680" cy="84096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9"/>
          <p:cNvSpPr/>
          <p:nvPr/>
        </p:nvSpPr>
        <p:spPr>
          <a:xfrm>
            <a:off x="228600" y="2889360"/>
            <a:ext cx="63720" cy="8409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0"/>
          <p:cNvSpPr/>
          <p:nvPr/>
        </p:nvSpPr>
        <p:spPr>
          <a:xfrm>
            <a:off x="365760" y="29444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State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1"/>
          <p:cNvSpPr/>
          <p:nvPr/>
        </p:nvSpPr>
        <p:spPr>
          <a:xfrm>
            <a:off x="365760" y="3218760"/>
            <a:ext cx="4114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Memória interna do componente — muda o estado, React atualiza a UI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22"/>
          <p:cNvSpPr/>
          <p:nvPr/>
        </p:nvSpPr>
        <p:spPr>
          <a:xfrm>
            <a:off x="4754880" y="2889360"/>
            <a:ext cx="4315680" cy="84096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23"/>
          <p:cNvSpPr/>
          <p:nvPr/>
        </p:nvSpPr>
        <p:spPr>
          <a:xfrm>
            <a:off x="4754880" y="2889360"/>
            <a:ext cx="63720" cy="8409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4"/>
          <p:cNvSpPr/>
          <p:nvPr/>
        </p:nvSpPr>
        <p:spPr>
          <a:xfrm>
            <a:off x="4892040" y="29444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useEffect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5"/>
          <p:cNvSpPr/>
          <p:nvPr/>
        </p:nvSpPr>
        <p:spPr>
          <a:xfrm>
            <a:off x="4892040" y="3218760"/>
            <a:ext cx="4114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Efeitos colaterais: fetch, timers, subscriptions, DOM manual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26"/>
          <p:cNvSpPr/>
          <p:nvPr/>
        </p:nvSpPr>
        <p:spPr>
          <a:xfrm>
            <a:off x="228600" y="3867840"/>
            <a:ext cx="4315680" cy="84096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7"/>
          <p:cNvSpPr/>
          <p:nvPr/>
        </p:nvSpPr>
        <p:spPr>
          <a:xfrm>
            <a:off x="228600" y="3867840"/>
            <a:ext cx="63720" cy="8409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8"/>
          <p:cNvSpPr/>
          <p:nvPr/>
        </p:nvSpPr>
        <p:spPr>
          <a:xfrm>
            <a:off x="365760" y="39229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useMemo / useCallback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9"/>
          <p:cNvSpPr/>
          <p:nvPr/>
        </p:nvSpPr>
        <p:spPr>
          <a:xfrm>
            <a:off x="365760" y="4197240"/>
            <a:ext cx="4114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Otimização: memoriza valores e funções para evitar recálculos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30"/>
          <p:cNvSpPr/>
          <p:nvPr/>
        </p:nvSpPr>
        <p:spPr>
          <a:xfrm>
            <a:off x="4754880" y="3867840"/>
            <a:ext cx="4315680" cy="84096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31"/>
          <p:cNvSpPr/>
          <p:nvPr/>
        </p:nvSpPr>
        <p:spPr>
          <a:xfrm>
            <a:off x="4754880" y="3867840"/>
            <a:ext cx="63720" cy="8409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2"/>
          <p:cNvSpPr/>
          <p:nvPr/>
        </p:nvSpPr>
        <p:spPr>
          <a:xfrm>
            <a:off x="4892040" y="39229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8bdf8"/>
                </a:solidFill>
                <a:effectLst/>
                <a:uFillTx/>
                <a:latin typeface="Calibri"/>
                <a:ea typeface="Calibri"/>
              </a:rPr>
              <a:t>React 19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33"/>
          <p:cNvSpPr/>
          <p:nvPr/>
        </p:nvSpPr>
        <p:spPr>
          <a:xfrm>
            <a:off x="4892040" y="4197240"/>
            <a:ext cx="4114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Actions, useActionState, use(), Server Components e muito mais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35"/>
          <p:cNvSpPr/>
          <p:nvPr/>
        </p:nvSpPr>
        <p:spPr>
          <a:xfrm>
            <a:off x="0" y="5029200"/>
            <a:ext cx="914364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LibreOffice/25.2.3.2$Linux_X86_64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2026-05-14T20:05:59Z</dcterms:created>
  <dc:creator>ADS</dc:creator>
  <dc:description/>
  <dc:language>pt-BR</dc:language>
  <cp:lastModifiedBy/>
  <dcterms:modified xsi:type="dcterms:W3CDTF">2026-05-14T17:18:11Z</dcterms:modified>
  <cp:revision>3</cp:revision>
  <dc:subject>PptxGenJS Presentation</dc:subject>
  <dc:title>ReactJS – Do Básico ao React 19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28</vt:i4>
  </property>
  <property fmtid="{D5CDD505-2E9C-101B-9397-08002B2CF9AE}" pid="3" name="PresentationFormat">
    <vt:lpwstr>On-screen Show (16:9)</vt:lpwstr>
  </property>
  <property fmtid="{D5CDD505-2E9C-101B-9397-08002B2CF9AE}" pid="4" name="Slides">
    <vt:i4>28</vt:i4>
  </property>
</Properties>
</file>